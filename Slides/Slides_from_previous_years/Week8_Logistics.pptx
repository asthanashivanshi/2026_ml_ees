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sldIdLst>
    <p:sldId id="259" r:id="rId3"/>
    <p:sldId id="945" r:id="rId4"/>
    <p:sldId id="941" r:id="rId5"/>
    <p:sldId id="921" r:id="rId6"/>
    <p:sldId id="944" r:id="rId7"/>
    <p:sldId id="910" r:id="rId8"/>
    <p:sldId id="911" r:id="rId9"/>
    <p:sldId id="94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D1"/>
    <a:srgbClr val="1C95CD"/>
    <a:srgbClr val="C218C2"/>
    <a:srgbClr val="FFAAAA"/>
    <a:srgbClr val="3C9D3C"/>
    <a:srgbClr val="FFBA3B"/>
    <a:srgbClr val="0000FF"/>
    <a:srgbClr val="D52324"/>
    <a:srgbClr val="299F29"/>
    <a:srgbClr val="FF7E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7" autoAdjust="0"/>
    <p:restoredTop sz="88660" autoAdjust="0"/>
  </p:normalViewPr>
  <p:slideViewPr>
    <p:cSldViewPr snapToGrid="0">
      <p:cViewPr varScale="1">
        <p:scale>
          <a:sx n="78" d="100"/>
          <a:sy n="78" d="100"/>
        </p:scale>
        <p:origin x="10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2C8CA-A521-4254-86A7-6548A9107C3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2F013-C680-4F1D-A725-B09F536C3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7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05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9709A697-9556-4636-ADD7-C14036D27B5A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7C9A0B1-3A81-4EE2-BC0F-9246E436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2900"/>
            <a:ext cx="12192000" cy="1325563"/>
          </a:xfrm>
        </p:spPr>
        <p:txBody>
          <a:bodyPr/>
          <a:lstStyle>
            <a:lvl1pPr algn="ctr"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58463"/>
            <a:ext cx="12192000" cy="3818500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0F6E66B7-9B35-4B7B-9932-B0DB6C7780B0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5F618E1-985E-48A0-8864-543C934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9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94678-864D-4970-8E71-CC0335BFB9F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5630459C-811D-4DC4-9E77-A40A3737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3B7-1D8F-458E-93B0-CB00AB025C6C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9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0147"/>
            <a:ext cx="10515600" cy="1041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1" y="209806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48168"/>
            <a:ext cx="5157787" cy="32414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98061"/>
            <a:ext cx="5183188" cy="8501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948167"/>
            <a:ext cx="5183188" cy="3241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5CCD-FD48-4957-97BB-996D1D1F5A92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E08-FE4F-4BA0-9A4F-ABAA1AAD8933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070D-6507-42AD-8A7A-A1A51651946D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34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B3DE-6B60-4982-9E73-506458BA3016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7062-7E19-4F5A-9C80-6631C3BA90C9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5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5C72-5A6E-4C5D-A140-0F430B42233B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FC8F-4F6E-4D8C-B539-DD061C8756D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58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4FA5-C1A0-B80B-AB88-3CF38EF86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6F110-80D9-D4B1-19B3-B1DD51E38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DBF68-5496-6AF7-8DF4-9DCAC4E1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59C5-72CA-D781-0421-E47C7A39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BE8E2-7CB0-F248-DD67-31211FE9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34416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543A-B069-3097-E381-D4068D42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B920E-0082-DBDF-6B86-3BB6B1C38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01B29-702D-2FCD-AC27-B500D1CC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5C66B-363F-2FC8-89E9-69C24636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71D10-66B8-7DD9-5C54-438116D8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11378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7AC9-16A0-104E-528E-AE1E277B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5FAF9-3B91-250F-400C-FD3C5AAA6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F92EF-566C-1ACC-B436-6FD677142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1A92-FFE4-DD10-CF42-68DC800D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8F86E-5E51-EBEB-D0F0-454F71C0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24216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CF8F-C2CF-7360-9679-CD013D35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84C2-7099-C5EE-F734-A11083D8C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52864-6958-0D56-A40C-3D9C9ADDB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6574C-BBB5-C64F-1F6E-FE8CFBC7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F6BC2-2377-714D-6718-B55CF5D0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71353-D1EF-164F-E4FD-BF740AB6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1397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3E53-B71E-D334-D83C-6EDA983F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530FA-4DA3-1DC8-0D5C-4925FE67C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3B235-EC51-1600-5B93-A77C11126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22C01-F7D5-DE3A-A6B0-F33FDFA1C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0740B-7756-42E9-09FA-DA0C8FC5F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339889-604C-08A5-BA73-004DADC0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F891E-38AD-6718-F4F1-0E70E1F0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B3C78-6DBA-B4CF-7CF4-AC9E245B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40222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5957-994A-4E99-AC27-A51033CF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6B126-3F6E-3BB9-1AED-339F06B9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0E5D3-8605-DDC1-3F05-A250466D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8BC11-F81F-6001-327B-74A79853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60395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02908-3ACB-2EC2-5A6A-5EAF7D8F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0E3AB-CBA2-363A-85F2-91FC2B97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726CD-7AFD-DE3C-E1F2-9D2EEE70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020601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0D17-C2DC-E293-4598-26860C116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AB05-2F00-E03B-08F7-609553D15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B80B0-FCE5-F58D-7434-99CF726A2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6E7D-BA83-9201-65F5-B7BED31A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3BD46-7DCC-E550-42D1-56C758237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EBB1B-534D-E4D7-80E5-3D82BF95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078086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C1C44-22CE-FD85-1A40-87E60626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F435-FF62-422A-D2E5-1A0D1EA1A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75CDA-094D-720B-9F51-5A765697B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031AB-D1ED-9D42-01B4-148262C2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848AC-932A-A4D3-B7A9-B04CB980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093AE-D6AD-414B-62F2-89830013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21483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8B33-3C46-B1F3-8D95-92587C86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5CFE7-8BBA-705C-D6D4-7AA90DF75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4EBB0-1220-E88B-0E38-EB16B643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2FF13-8AD5-597A-D405-273F914E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DDB3-497F-DB13-58FE-E4D362BD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24960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94082-26C3-ABC2-2034-441A3DB5C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D6B54-934D-769F-10B0-1F06B2370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0BA4-D2B0-EF28-392E-0BC4671E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0C095-D568-3995-2554-3DFE65D5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BC482-F008-7605-FE4B-952FB65D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6772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2368195"/>
            <a:ext cx="12192000" cy="3308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9409E-6722-4D1D-BF68-530DA15E46E8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E69C-EA8C-4B37-8F1F-BD0C3836FBCC}"/>
              </a:ext>
            </a:extLst>
          </p:cNvPr>
          <p:cNvSpPr/>
          <p:nvPr userDrawn="1"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DB37FD6-FFD6-4A3C-9780-6C460EED70A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649FCEFC-7013-4222-9013-007F01EDB2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DF48FB-FA9B-4BA8-9E58-F2CC58B0160A}"/>
              </a:ext>
            </a:extLst>
          </p:cNvPr>
          <p:cNvSpPr txBox="1"/>
          <p:nvPr userDrawn="1"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ML for Earth &amp; Env Sci (Week 8, FA2025)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73B6DC2F-9988-447F-A7C3-709BC237347B}"/>
              </a:ext>
            </a:extLst>
          </p:cNvPr>
          <p:cNvSpPr txBox="1">
            <a:spLocks/>
          </p:cNvSpPr>
          <p:nvPr userDrawn="1"/>
        </p:nvSpPr>
        <p:spPr>
          <a:xfrm>
            <a:off x="4724400" y="-1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262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609B5-43C6-F955-0AEF-75FFAC07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E9515-A88C-6703-519E-C6E72A21F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EBE4-77C5-4D3D-A7B0-F2E3F4883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61260-1EFF-5044-B913-A02BE33B7121}" type="datetimeFigureOut">
              <a:rPr lang="en-001" smtClean="0"/>
              <a:t>11/12/2025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61030-044F-A786-FC08-ED23122ED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7E46F-5B40-3CE0-FC1E-275180251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14921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EE425-A67E-5D5B-DF0F-71407E3C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Workload distribution 5 ECTS ~10-15 Hours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45239B-7353-CD5D-C23E-407EC572F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97468"/>
              </p:ext>
            </p:extLst>
          </p:nvPr>
        </p:nvGraphicFramePr>
        <p:xfrm>
          <a:off x="643467" y="1808615"/>
          <a:ext cx="10905068" cy="4127424"/>
        </p:xfrm>
        <a:graphic>
          <a:graphicData uri="http://schemas.openxmlformats.org/drawingml/2006/table">
            <a:tbl>
              <a:tblPr firstRow="1" bandRow="1"/>
              <a:tblGrid>
                <a:gridCol w="3322909">
                  <a:extLst>
                    <a:ext uri="{9D8B030D-6E8A-4147-A177-3AD203B41FA5}">
                      <a16:colId xmlns:a16="http://schemas.microsoft.com/office/drawing/2014/main" val="2243646414"/>
                    </a:ext>
                  </a:extLst>
                </a:gridCol>
                <a:gridCol w="3035487">
                  <a:extLst>
                    <a:ext uri="{9D8B030D-6E8A-4147-A177-3AD203B41FA5}">
                      <a16:colId xmlns:a16="http://schemas.microsoft.com/office/drawing/2014/main" val="1277909989"/>
                    </a:ext>
                  </a:extLst>
                </a:gridCol>
                <a:gridCol w="4546672">
                  <a:extLst>
                    <a:ext uri="{9D8B030D-6E8A-4147-A177-3AD203B41FA5}">
                      <a16:colId xmlns:a16="http://schemas.microsoft.com/office/drawing/2014/main" val="1901002483"/>
                    </a:ext>
                  </a:extLst>
                </a:gridCol>
              </a:tblGrid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Activity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Estimated Workload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NEXT WEEK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84864"/>
                  </a:ext>
                </a:extLst>
              </a:tr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Read Géron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2-3 hours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Extracts from Molnar’s textbook (Moodle) </a:t>
                      </a:r>
                      <a:endParaRPr lang="en-US" sz="1800" b="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01542"/>
                  </a:ext>
                </a:extLst>
              </a:tr>
              <a:tr h="799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Environmental Reading 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+ Check out activities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1-2 hours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Gagne et al., 2019</a:t>
                      </a: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270403"/>
                  </a:ext>
                </a:extLst>
              </a:tr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Notebooks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⬇️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1-2 hours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Helvetica" pitchFamily="2" charset="0"/>
                        </a:rPr>
                        <a:t>All of e-book Chapter 9’s exercises</a:t>
                      </a: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336586"/>
                  </a:ext>
                </a:extLst>
              </a:tr>
              <a:tr h="1470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Final Project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⬆️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3-4 hours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Work on presentation: 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idea/task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methods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data, preliminary results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)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  <a:p>
                      <a:pPr>
                        <a:buNone/>
                      </a:pPr>
                      <a:br>
                        <a:rPr lang="en-US" sz="1800" dirty="0">
                          <a:effectLst/>
                          <a:latin typeface="Helvetica" pitchFamily="2" charset="0"/>
                        </a:rPr>
                      </a:b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100675"/>
                  </a:ext>
                </a:extLst>
              </a:tr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Class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 hours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effectLst/>
                          <a:latin typeface="Helvetica" pitchFamily="2" charset="0"/>
                        </a:rPr>
                        <a:t>xAI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052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98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681C-21F3-F0A0-64C8-2C1F21CD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23820"/>
          </a:xfrm>
        </p:spPr>
        <p:txBody>
          <a:bodyPr>
            <a:normAutofit fontScale="90000"/>
          </a:bodyPr>
          <a:lstStyle/>
          <a:p>
            <a:r>
              <a:rPr lang="en-US" dirty="0"/>
              <a:t>Notebooks: All “theory” + 1 “environmental application”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59E5C6-0C02-43D5-728D-C4EC8E8C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FD529-9C51-07BA-92DD-0C6E1FF9C80B}"/>
              </a:ext>
            </a:extLst>
          </p:cNvPr>
          <p:cNvCxnSpPr/>
          <p:nvPr/>
        </p:nvCxnSpPr>
        <p:spPr>
          <a:xfrm>
            <a:off x="-2" y="2713703"/>
            <a:ext cx="121920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2EC95F-E964-8DFB-E9B5-732B0CD95B1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5998" y="1966453"/>
            <a:ext cx="0" cy="54667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550D9F-0A32-B172-2839-2BBCA215F7AD}"/>
              </a:ext>
            </a:extLst>
          </p:cNvPr>
          <p:cNvSpPr txBox="1"/>
          <p:nvPr/>
        </p:nvSpPr>
        <p:spPr>
          <a:xfrm>
            <a:off x="0" y="2063079"/>
            <a:ext cx="60959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C3FC2-94D6-D04D-597C-A83F4314CB71}"/>
              </a:ext>
            </a:extLst>
          </p:cNvPr>
          <p:cNvSpPr txBox="1"/>
          <p:nvPr/>
        </p:nvSpPr>
        <p:spPr>
          <a:xfrm>
            <a:off x="6095998" y="2063079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Environmental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9EECD-7161-E938-3970-597B12054FAF}"/>
              </a:ext>
            </a:extLst>
          </p:cNvPr>
          <p:cNvSpPr txBox="1"/>
          <p:nvPr/>
        </p:nvSpPr>
        <p:spPr>
          <a:xfrm>
            <a:off x="-2" y="2713703"/>
            <a:ext cx="6095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b="1" dirty="0"/>
              <a:t>CNN: </a:t>
            </a:r>
            <a:r>
              <a:rPr lang="en-US" sz="3000" dirty="0"/>
              <a:t>6.2 (Computer vision)</a:t>
            </a:r>
          </a:p>
          <a:p>
            <a:pPr algn="l"/>
            <a:endParaRPr lang="en-US" sz="3000" b="1" dirty="0"/>
          </a:p>
          <a:p>
            <a:pPr algn="l"/>
            <a:r>
              <a:rPr lang="en-US" sz="3000" b="1" dirty="0"/>
              <a:t>RNN: </a:t>
            </a:r>
            <a:r>
              <a:rPr lang="en-US" sz="3000" dirty="0"/>
              <a:t>7.3 (Composing music)</a:t>
            </a:r>
          </a:p>
          <a:p>
            <a:pPr algn="l"/>
            <a:endParaRPr lang="en-US" sz="3000" b="1" dirty="0"/>
          </a:p>
          <a:p>
            <a:pPr algn="l"/>
            <a:r>
              <a:rPr lang="en-US" sz="3000" b="1" dirty="0"/>
              <a:t>XAI:</a:t>
            </a:r>
            <a:r>
              <a:rPr lang="en-US" sz="3000" dirty="0"/>
              <a:t> 9.2 (XAI on simple datasets) </a:t>
            </a:r>
          </a:p>
          <a:p>
            <a:pPr algn="l"/>
            <a:endParaRPr lang="en-US" sz="3000" b="1" dirty="0"/>
          </a:p>
          <a:p>
            <a:pPr algn="l"/>
            <a:r>
              <a:rPr lang="en-US" sz="3000" b="1" dirty="0"/>
              <a:t>Gen ML:</a:t>
            </a:r>
            <a:r>
              <a:rPr lang="en-US" sz="3000" dirty="0"/>
              <a:t> 10.1 (UQ) + 10.2 (Gen NNs)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0F1E5-C94B-164A-A0B4-85AB62851665}"/>
              </a:ext>
            </a:extLst>
          </p:cNvPr>
          <p:cNvSpPr txBox="1"/>
          <p:nvPr/>
        </p:nvSpPr>
        <p:spPr>
          <a:xfrm>
            <a:off x="6095991" y="2731673"/>
            <a:ext cx="6095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Choose one of the following:</a:t>
            </a:r>
          </a:p>
          <a:p>
            <a:pPr algn="l"/>
            <a:endParaRPr lang="en-US" sz="3000" b="1" dirty="0"/>
          </a:p>
          <a:p>
            <a:pPr algn="l"/>
            <a:r>
              <a:rPr lang="en-US" sz="3000" b="1" dirty="0"/>
              <a:t>CNN: </a:t>
            </a:r>
            <a:r>
              <a:rPr lang="en-US" sz="3000" dirty="0"/>
              <a:t>6.3 (Land cover classification)</a:t>
            </a:r>
          </a:p>
          <a:p>
            <a:pPr algn="l"/>
            <a:r>
              <a:rPr lang="en-US" sz="3000" b="1" dirty="0"/>
              <a:t>RNN: </a:t>
            </a:r>
            <a:r>
              <a:rPr lang="en-US" sz="3000" dirty="0"/>
              <a:t>7.4 (Hydrological modeling)</a:t>
            </a:r>
          </a:p>
          <a:p>
            <a:pPr algn="l"/>
            <a:r>
              <a:rPr lang="en-US" sz="3000" b="1" dirty="0"/>
              <a:t>GNN:</a:t>
            </a:r>
            <a:r>
              <a:rPr lang="en-US" sz="3000" dirty="0"/>
              <a:t> 8.3* (Neural weather pred.)</a:t>
            </a:r>
          </a:p>
          <a:p>
            <a:pPr algn="l"/>
            <a:r>
              <a:rPr lang="en-US" sz="3000" b="1" dirty="0" err="1"/>
              <a:t>GenML</a:t>
            </a:r>
            <a:r>
              <a:rPr lang="en-US" sz="3000" b="1" dirty="0"/>
              <a:t>:</a:t>
            </a:r>
            <a:r>
              <a:rPr lang="en-US" sz="3000" dirty="0"/>
              <a:t> 10.3* (Climate downscaling) </a:t>
            </a:r>
          </a:p>
          <a:p>
            <a:pPr algn="l"/>
            <a:r>
              <a:rPr lang="en-US" sz="3000" b="1" dirty="0"/>
              <a:t>Hybrid: </a:t>
            </a:r>
            <a:r>
              <a:rPr lang="en-US" sz="3000" dirty="0"/>
              <a:t>11.5* (Glacier modeling)</a:t>
            </a:r>
          </a:p>
        </p:txBody>
      </p:sp>
    </p:spTree>
    <p:extLst>
      <p:ext uri="{BB962C8B-B14F-4D97-AF65-F5344CB8AC3E}">
        <p14:creationId xmlns:p14="http://schemas.microsoft.com/office/powerpoint/2010/main" val="2333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21CF-F50A-FB96-940B-8139DE07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9740"/>
            <a:ext cx="12192000" cy="2852737"/>
          </a:xfrm>
        </p:spPr>
        <p:txBody>
          <a:bodyPr/>
          <a:lstStyle/>
          <a:p>
            <a:r>
              <a:rPr lang="en-US" dirty="0"/>
              <a:t>Logistics for future evaluations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FB996-D22C-2614-5B50-730AEACA3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589465"/>
            <a:ext cx="12192000" cy="1500187"/>
          </a:xfrm>
        </p:spPr>
        <p:txBody>
          <a:bodyPr/>
          <a:lstStyle/>
          <a:p>
            <a:pPr algn="ctr"/>
            <a:r>
              <a:rPr lang="en-US" u="sng" dirty="0"/>
              <a:t>Note</a:t>
            </a:r>
            <a:r>
              <a:rPr lang="en-US" dirty="0"/>
              <a:t>: Future oral assessments will be organized to avoid the delays we experienced last week.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D259-25E1-1DA5-2A69-05A4AF0F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54A5-12DF-5362-CC5C-C2258A53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Mid-term Presentations: Thursday, </a:t>
            </a:r>
            <a:r>
              <a:rPr lang="en-US" b="1" dirty="0"/>
              <a:t>Nov 13</a:t>
            </a:r>
            <a:r>
              <a:rPr lang="en-US" b="1" baseline="30000" dirty="0"/>
              <a:t>th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GEO 2113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FFDBB9-C135-880A-6131-E48B54C1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A164C-A84E-7234-CBA9-8B2D19A804F4}"/>
              </a:ext>
            </a:extLst>
          </p:cNvPr>
          <p:cNvSpPr txBox="1"/>
          <p:nvPr/>
        </p:nvSpPr>
        <p:spPr>
          <a:xfrm>
            <a:off x="0" y="3538490"/>
            <a:ext cx="12192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u="sng" dirty="0"/>
              <a:t>4min presentations + 6min Q&amp;A/feedback</a:t>
            </a:r>
          </a:p>
          <a:p>
            <a:pPr algn="l"/>
            <a:endParaRPr lang="en-US" sz="3000" dirty="0"/>
          </a:p>
          <a:p>
            <a:pPr algn="l"/>
            <a:r>
              <a:rPr lang="en-US" sz="3000" dirty="0"/>
              <a:t>Tip = 1 slide/minute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Scientific question: What’s our goal and why do we care?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Dataset: Characteristics, challenges, training/validation/test split, etc.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Methodology: Which ML algorithm(s) are you planning to use and why?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Results: What are your initial results &amp; what do you plan to do next?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CA518-1F95-6BA4-D78F-E477D1C9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415"/>
            <a:ext cx="12192000" cy="6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0103-44B2-D22B-A87A-6D018D01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(For students taking this course for credits)</a:t>
            </a:r>
            <a:br>
              <a:rPr lang="en-US" dirty="0"/>
            </a:br>
            <a:r>
              <a:rPr lang="en-US" dirty="0"/>
              <a:t>Second oral evaluation: Dec 3</a:t>
            </a:r>
            <a:r>
              <a:rPr lang="en-US" baseline="30000" dirty="0"/>
              <a:t>rd</a:t>
            </a:r>
            <a:r>
              <a:rPr lang="en-US" dirty="0"/>
              <a:t> &amp; 4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5C2A36-30AA-E208-3BBA-5585F09A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34D19-CFCA-76BF-9590-2DFDE17F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2441902"/>
            <a:ext cx="12192000" cy="409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E816-71E6-4789-81A4-C7C5659E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83018"/>
          </a:xfrm>
        </p:spPr>
        <p:txBody>
          <a:bodyPr>
            <a:normAutofit/>
          </a:bodyPr>
          <a:lstStyle/>
          <a:p>
            <a:r>
              <a:rPr lang="en-US" dirty="0"/>
              <a:t>In-class Peer Review: Wednesday, Dec 10</a:t>
            </a:r>
            <a:r>
              <a:rPr lang="en-US" baseline="30000" dirty="0"/>
              <a:t>th</a:t>
            </a:r>
            <a:r>
              <a:rPr lang="en-US" dirty="0"/>
              <a:t>, 12-2PM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E4BB1-F0A7-450A-9EFA-9C5C6FC0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5EB457D-0278-4721-9A27-E528E0D68D50}"/>
              </a:ext>
            </a:extLst>
          </p:cNvPr>
          <p:cNvSpPr txBox="1">
            <a:spLocks/>
          </p:cNvSpPr>
          <p:nvPr/>
        </p:nvSpPr>
        <p:spPr>
          <a:xfrm>
            <a:off x="2" y="5874982"/>
            <a:ext cx="12191998" cy="983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Submit first draft of your project by December 9</a:t>
            </a:r>
            <a:r>
              <a:rPr lang="en-US" baseline="30000" dirty="0"/>
              <a:t>th</a:t>
            </a:r>
            <a:r>
              <a:rPr lang="en-US" dirty="0"/>
              <a:t> 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54D35-4B90-B2E0-607D-2D56E1FB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8773"/>
            <a:ext cx="12192000" cy="334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2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BFE36-3B1F-4C2A-9016-337BE4D6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D2398-3FCD-467D-B01C-0199B1A278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205"/>
          <a:stretch/>
        </p:blipFill>
        <p:spPr>
          <a:xfrm>
            <a:off x="0" y="1031395"/>
            <a:ext cx="12192000" cy="3205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D3D337-BE61-414E-8F0A-94ADC860F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93" y="4236721"/>
            <a:ext cx="4718807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EFD0BE-0634-41AE-BCAA-B49A49DC6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452" y="4236721"/>
            <a:ext cx="5826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1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6239-8907-4A57-A723-BEEF915D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Presentations on Dec 11 &amp; Dec 18 in GEO2138</a:t>
            </a:r>
            <a:br>
              <a:rPr lang="en-US" dirty="0"/>
            </a:br>
            <a:r>
              <a:rPr lang="en-US" dirty="0"/>
              <a:t>Registration slots on Moodle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4522C-45E9-48E6-AE64-6016EBED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969C6-F13F-402F-AF09-61C8A2FD87D5}"/>
              </a:ext>
            </a:extLst>
          </p:cNvPr>
          <p:cNvSpPr txBox="1"/>
          <p:nvPr/>
        </p:nvSpPr>
        <p:spPr>
          <a:xfrm>
            <a:off x="0" y="3534013"/>
            <a:ext cx="12192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u="sng" dirty="0"/>
              <a:t>5min presentations + 5min Q&amp;A</a:t>
            </a:r>
          </a:p>
          <a:p>
            <a:pPr algn="l"/>
            <a:endParaRPr lang="en-US" sz="3000" dirty="0"/>
          </a:p>
          <a:p>
            <a:pPr algn="l"/>
            <a:r>
              <a:rPr lang="en-US" sz="3000" dirty="0"/>
              <a:t>Tip = 1-2 slides for each of the following categories: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Scientific question: What’s our goal and why do we care?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Dataset: Characteristics, challenges, training/validation/test split, etc.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Methodology: Which ML algorithm(s) did you choose and why?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Results: What are your findings and how does it answer the sci. question?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7A1B3-EB3C-500C-B964-D5AB176E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3829"/>
            <a:ext cx="12192000" cy="7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MU Sans Serif Theme">
      <a:majorFont>
        <a:latin typeface="CMU Sans Serif"/>
        <a:ea typeface=""/>
        <a:cs typeface=""/>
      </a:majorFont>
      <a:minorFont>
        <a:latin typeface="CMU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D708DCDC-42F7-48A2-975C-30318494E14E}" vid="{5A564382-0E23-4DF5-80A1-3DF436ECACC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413</Words>
  <Application>Microsoft Office PowerPoint</Application>
  <PresentationFormat>Widescreen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CMU Sans Serif</vt:lpstr>
      <vt:lpstr>Helvetica</vt:lpstr>
      <vt:lpstr>Office Theme</vt:lpstr>
      <vt:lpstr>1_Office Theme</vt:lpstr>
      <vt:lpstr>Workload distribution 5 ECTS ~10-15 Hours</vt:lpstr>
      <vt:lpstr>Notebooks: All “theory” + 1 “environmental application”</vt:lpstr>
      <vt:lpstr>Logistics for future evaluations</vt:lpstr>
      <vt:lpstr>Mid-term Presentations: Thursday, Nov 13th in GEO 2113  </vt:lpstr>
      <vt:lpstr>(For students taking this course for credits) Second oral evaluation: Dec 3rd &amp; 4th </vt:lpstr>
      <vt:lpstr>In-class Peer Review: Wednesday, Dec 10th, 12-2PM</vt:lpstr>
      <vt:lpstr>PowerPoint Presentation</vt:lpstr>
      <vt:lpstr>Final Presentations on Dec 11 &amp; Dec 18 in GEO2138 Registration slots on Moodle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Beucler</dc:creator>
  <cp:lastModifiedBy>Tom Beucler</cp:lastModifiedBy>
  <cp:revision>454</cp:revision>
  <dcterms:created xsi:type="dcterms:W3CDTF">2022-02-23T18:29:24Z</dcterms:created>
  <dcterms:modified xsi:type="dcterms:W3CDTF">2025-11-12T11:40:43Z</dcterms:modified>
</cp:coreProperties>
</file>