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4" r:id="rId2"/>
    <p:sldMasterId id="2147483696" r:id="rId3"/>
  </p:sldMasterIdLst>
  <p:notesMasterIdLst>
    <p:notesMasterId r:id="rId30"/>
  </p:notesMasterIdLst>
  <p:sldIdLst>
    <p:sldId id="256" r:id="rId4"/>
    <p:sldId id="686" r:id="rId5"/>
    <p:sldId id="890" r:id="rId6"/>
    <p:sldId id="900" r:id="rId7"/>
    <p:sldId id="891" r:id="rId8"/>
    <p:sldId id="913" r:id="rId9"/>
    <p:sldId id="892" r:id="rId10"/>
    <p:sldId id="902" r:id="rId11"/>
    <p:sldId id="903" r:id="rId12"/>
    <p:sldId id="905" r:id="rId13"/>
    <p:sldId id="904" r:id="rId14"/>
    <p:sldId id="906" r:id="rId15"/>
    <p:sldId id="946" r:id="rId16"/>
    <p:sldId id="862" r:id="rId17"/>
    <p:sldId id="868" r:id="rId18"/>
    <p:sldId id="893" r:id="rId19"/>
    <p:sldId id="947" r:id="rId20"/>
    <p:sldId id="791" r:id="rId21"/>
    <p:sldId id="941" r:id="rId22"/>
    <p:sldId id="259" r:id="rId23"/>
    <p:sldId id="945" r:id="rId24"/>
    <p:sldId id="921" r:id="rId25"/>
    <p:sldId id="944" r:id="rId26"/>
    <p:sldId id="910" r:id="rId27"/>
    <p:sldId id="911" r:id="rId28"/>
    <p:sldId id="94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218C2"/>
    <a:srgbClr val="0091D1"/>
    <a:srgbClr val="1C95CD"/>
    <a:srgbClr val="FFAAAA"/>
    <a:srgbClr val="3C9D3C"/>
    <a:srgbClr val="FFBA3B"/>
    <a:srgbClr val="0000FF"/>
    <a:srgbClr val="D52324"/>
    <a:srgbClr val="299F29"/>
    <a:srgbClr val="FF7E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07" autoAdjust="0"/>
    <p:restoredTop sz="79645" autoAdjust="0"/>
  </p:normalViewPr>
  <p:slideViewPr>
    <p:cSldViewPr snapToGrid="0">
      <p:cViewPr varScale="1">
        <p:scale>
          <a:sx n="70" d="100"/>
          <a:sy n="70" d="100"/>
        </p:scale>
        <p:origin x="1363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42C8CA-A521-4254-86A7-6548A9107C3F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F2F013-C680-4F1D-A725-B09F536C3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975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F2F013-C680-4F1D-A725-B09F536C38B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8568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F2F013-C680-4F1D-A725-B09F536C38B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8385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VOTE 1: What do you think the bias is?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F2F013-C680-4F1D-A725-B09F536C38B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4376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VOTE 2: In which cases do we need XAI?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F2F013-C680-4F1D-A725-B09F536C38B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7518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VOTE 3: Does reading the coefficient always work? In which cases does it not work? How can we solve this?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F2F013-C680-4F1D-A725-B09F536C38B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8166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of Global explanation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F2F013-C680-4F1D-A725-B09F536C38B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3641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Vote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F2F013-C680-4F1D-A725-B09F536C38B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3655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 accuracy ensures that the sum of all feature contributions equals the difference between the model's output for a specific instance and the average output.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Missingness means a missing feature receives a zero value, and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consistency dictates that if a model changes to be more favorable to a feature, the feature's Shapley value will not decrease. </a:t>
            </a:r>
          </a:p>
          <a:p>
            <a:r>
              <a:rPr lang="en-US" dirty="0"/>
              <a:t>https://christophm.github.io/interpretable-ml-book/shap.html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F2F013-C680-4F1D-A725-B09F536C38B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202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Strict PDP vs. M-plots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F2F013-C680-4F1D-A725-B09F536C38B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9616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F2F013-C680-4F1D-A725-B09F536C38B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2105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at this point, it may bring back a lot of harsh memories trying to wrap your head around complex models….</a:t>
            </a:r>
          </a:p>
          <a:p>
            <a:r>
              <a:rPr lang="en-US" dirty="0"/>
              <a:t>Does *not* change the complexity of the model but changes the focus to explaining individual predictions</a:t>
            </a:r>
          </a:p>
          <a:p>
            <a:endParaRPr lang="en-US" dirty="0"/>
          </a:p>
          <a:p>
            <a:r>
              <a:rPr lang="en-US" dirty="0"/>
              <a:t>VOTE: How can we make this a global explanation? Can we take the training mean of the Jacobian? Can we take the training mean of the saliency map?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F2F013-C680-4F1D-A725-B09F536C38B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1902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F2F013-C680-4F1D-A725-B09F536C38B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4910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F2F013-C680-4F1D-A725-B09F536C38B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8505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fld id="{9709A697-9556-4636-ADD7-C14036D27B5A}" type="datetime1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97C9A0B1-3A81-4EE2-BC0F-9246E4367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0"/>
            <a:ext cx="2743200" cy="365125"/>
          </a:xfrm>
        </p:spPr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134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032900"/>
            <a:ext cx="12192000" cy="1325563"/>
          </a:xfrm>
        </p:spPr>
        <p:txBody>
          <a:bodyPr/>
          <a:lstStyle>
            <a:lvl1pPr algn="ctr"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358463"/>
            <a:ext cx="12192000" cy="3818500"/>
          </a:xfrm>
        </p:spPr>
        <p:txBody>
          <a:bodyPr/>
          <a:lstStyle>
            <a:lvl1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  <a:lvl2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2pPr>
            <a:lvl3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3pPr>
            <a:lvl4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4pPr>
            <a:lvl5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fld id="{0F6E66B7-9B35-4B7B-9932-B0DB6C7780B0}" type="datetime1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95F618E1-985E-48A0-8864-543C934DB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0"/>
            <a:ext cx="2743200" cy="365125"/>
          </a:xfrm>
        </p:spPr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696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94678-864D-4970-8E71-CC0335BFB9F7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5630459C-811D-4DC4-9E77-A40A3737A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0"/>
            <a:ext cx="2743200" cy="365125"/>
          </a:xfrm>
        </p:spPr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4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368195"/>
            <a:ext cx="5181600" cy="380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368195"/>
            <a:ext cx="5181600" cy="380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C03B7-1D8F-458E-93B0-CB00AB025C6C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695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30147"/>
            <a:ext cx="10515600" cy="10417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6611" y="2098062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948168"/>
            <a:ext cx="5157787" cy="324149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098061"/>
            <a:ext cx="5183188" cy="85010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948167"/>
            <a:ext cx="5183188" cy="32414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45CCD-FD48-4957-97BB-996D1D1F5A92}" type="datetime1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918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1E08-FE4F-4BA0-9A4F-ABAA1AAD8933}" type="datetime1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98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F070D-6507-42AD-8A7A-A1A51651946D}" type="datetime1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5686A01-FA10-4E06-92C7-92734750F4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0341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BB3DE-6B60-4982-9E73-506458BA3016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1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C7062-7E19-4F5A-9C80-6631C3BA90C9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459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35C72-5A6E-4C5D-A140-0F430B42233B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15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AFC8F-4F6E-4D8C-B539-DD061C8756D5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3584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fld id="{9709A697-9556-4636-ADD7-C14036D27B5A}" type="datetime1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97C9A0B1-3A81-4EE2-BC0F-9246E4367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0"/>
            <a:ext cx="2743200" cy="365125"/>
          </a:xfrm>
        </p:spPr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8902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032900"/>
            <a:ext cx="12192000" cy="1325563"/>
          </a:xfrm>
        </p:spPr>
        <p:txBody>
          <a:bodyPr/>
          <a:lstStyle>
            <a:lvl1pPr algn="ctr"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358463"/>
            <a:ext cx="12192000" cy="3818500"/>
          </a:xfrm>
        </p:spPr>
        <p:txBody>
          <a:bodyPr/>
          <a:lstStyle>
            <a:lvl1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  <a:lvl2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2pPr>
            <a:lvl3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3pPr>
            <a:lvl4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4pPr>
            <a:lvl5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fld id="{0F6E66B7-9B35-4B7B-9932-B0DB6C7780B0}" type="datetime1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95F618E1-985E-48A0-8864-543C934DB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0"/>
            <a:ext cx="2743200" cy="365125"/>
          </a:xfrm>
        </p:spPr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8149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94678-864D-4970-8E71-CC0335BFB9F7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5630459C-811D-4DC4-9E77-A40A3737A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0"/>
            <a:ext cx="2743200" cy="365125"/>
          </a:xfrm>
        </p:spPr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4032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368195"/>
            <a:ext cx="5181600" cy="380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368195"/>
            <a:ext cx="5181600" cy="380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C03B7-1D8F-458E-93B0-CB00AB025C6C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2882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30147"/>
            <a:ext cx="10515600" cy="10417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6611" y="2098062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948168"/>
            <a:ext cx="5157787" cy="324149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098061"/>
            <a:ext cx="5183188" cy="85010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948167"/>
            <a:ext cx="5183188" cy="32414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45CCD-FD48-4957-97BB-996D1D1F5A92}" type="datetime1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3010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1E08-FE4F-4BA0-9A4F-ABAA1AAD8933}" type="datetime1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1122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F070D-6507-42AD-8A7A-A1A51651946D}" type="datetime1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5686A01-FA10-4E06-92C7-92734750F4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6065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BB3DE-6B60-4982-9E73-506458BA3016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0751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C7062-7E19-4F5A-9C80-6631C3BA90C9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859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35C72-5A6E-4C5D-A140-0F430B42233B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8885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AFC8F-4F6E-4D8C-B539-DD061C8756D5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3899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84FA5-C1A0-B80B-AB88-3CF38EF864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D6F110-80D9-D4B1-19B3-B1DD51E38C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DBF68-5496-6AF7-8DF4-9DCAC4E12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260-1EFF-5044-B913-A02BE33B7121}" type="datetimeFigureOut">
              <a:rPr lang="en-001" smtClean="0"/>
              <a:t>11/19/2025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759C5-72CA-D781-0421-E47C7A392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BE8E2-7CB0-F248-DD67-31211FE9E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06951-0875-8643-BA7E-C39BCBB83091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6799877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3543A-B069-3097-E381-D4068D422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B920E-0082-DBDF-6B86-3BB6B1C38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01B29-702D-2FCD-AC27-B500D1CC0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260-1EFF-5044-B913-A02BE33B7121}" type="datetimeFigureOut">
              <a:rPr lang="en-001" smtClean="0"/>
              <a:t>11/19/2025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5C66B-363F-2FC8-89E9-69C246362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71D10-66B8-7DD9-5C54-438116D80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06951-0875-8643-BA7E-C39BCBB83091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00952324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F7AC9-16A0-104E-528E-AE1E277BA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35FAF9-3B91-250F-400C-FD3C5AAA6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F92EF-566C-1ACC-B436-6FD677142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260-1EFF-5044-B913-A02BE33B7121}" type="datetimeFigureOut">
              <a:rPr lang="en-001" smtClean="0"/>
              <a:t>11/19/2025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F1A92-FFE4-DD10-CF42-68DC800D9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8F86E-5E51-EBEB-D0F0-454F71C09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06951-0875-8643-BA7E-C39BCBB83091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40683728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1CF8F-C2CF-7360-9679-CD013D351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E84C2-7099-C5EE-F734-A11083D8CE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552864-6958-0D56-A40C-3D9C9ADDB6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F6574C-BBB5-C64F-1F6E-FE8CFBC73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260-1EFF-5044-B913-A02BE33B7121}" type="datetimeFigureOut">
              <a:rPr lang="en-001" smtClean="0"/>
              <a:t>11/19/2025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3F6BC2-2377-714D-6718-B55CF5D03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F71353-D1EF-164F-E4FD-BF740AB6B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06951-0875-8643-BA7E-C39BCBB83091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40127479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A3E53-B71E-D334-D83C-6EDA983FC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9530FA-4DA3-1DC8-0D5C-4925FE67C8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63B235-EC51-1600-5B93-A77C11126D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322C01-F7D5-DE3A-A6B0-F33FDFA1C8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60740B-7756-42E9-09FA-DA0C8FC5F1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339889-604C-08A5-BA73-004DADC0B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260-1EFF-5044-B913-A02BE33B7121}" type="datetimeFigureOut">
              <a:rPr lang="en-001" smtClean="0"/>
              <a:t>11/19/2025</a:t>
            </a:fld>
            <a:endParaRPr lang="en-001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0F891E-38AD-6718-F4F1-0E70E1F0E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7B3C78-6DBA-B4CF-7CF4-AC9E245B0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06951-0875-8643-BA7E-C39BCBB83091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0997984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B5957-994A-4E99-AC27-A51033CFF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76B126-3F6E-3BB9-1AED-339F06B9E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260-1EFF-5044-B913-A02BE33B7121}" type="datetimeFigureOut">
              <a:rPr lang="en-001" smtClean="0"/>
              <a:t>11/19/2025</a:t>
            </a:fld>
            <a:endParaRPr lang="en-001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50E5D3-8605-DDC1-3F05-A250466D0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8BC11-F81F-6001-327B-74A798532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06951-0875-8643-BA7E-C39BCBB83091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40902312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F02908-3ACB-2EC2-5A6A-5EAF7D8FE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260-1EFF-5044-B913-A02BE33B7121}" type="datetimeFigureOut">
              <a:rPr lang="en-001" smtClean="0"/>
              <a:t>11/19/2025</a:t>
            </a:fld>
            <a:endParaRPr lang="en-001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D0E3AB-CBA2-363A-85F2-91FC2B974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4726CD-7AFD-DE3C-E1F2-9D2EEE70E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06951-0875-8643-BA7E-C39BCBB83091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2839109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20D17-C2DC-E293-4598-26860C116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7AB05-2F00-E03B-08F7-609553D15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7B80B0-FCE5-F58D-7434-99CF726A2D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F6E7D-BA83-9201-65F5-B7BED31A7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260-1EFF-5044-B913-A02BE33B7121}" type="datetimeFigureOut">
              <a:rPr lang="en-001" smtClean="0"/>
              <a:t>11/19/2025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C3BD46-7DCC-E550-42D1-56C758237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3EBB1B-534D-E4D7-80E5-3D82BF95E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06951-0875-8643-BA7E-C39BCBB83091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7808200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C1C44-22CE-FD85-1A40-87E60626A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26F435-FF62-422A-D2E5-1A0D1EA1A6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00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875CDA-094D-720B-9F51-5A765697B4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6031AB-D1ED-9D42-01B4-148262C2A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260-1EFF-5044-B913-A02BE33B7121}" type="datetimeFigureOut">
              <a:rPr lang="en-001" smtClean="0"/>
              <a:t>11/19/2025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3848AC-932A-A4D3-B7A9-B04CB9808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093AE-D6AD-414B-62F2-898300134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06951-0875-8643-BA7E-C39BCBB83091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0771413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18B33-3C46-B1F3-8D95-92587C861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C5CFE7-8BBA-705C-D6D4-7AA90DF75A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4EBB0-1220-E88B-0E38-EB16B6439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260-1EFF-5044-B913-A02BE33B7121}" type="datetimeFigureOut">
              <a:rPr lang="en-001" smtClean="0"/>
              <a:t>11/19/2025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92FF13-8AD5-597A-D405-273F914EB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DDB3-497F-DB13-58FE-E4D362BDD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06951-0875-8643-BA7E-C39BCBB83091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43008391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494082-26C3-ABC2-2034-441A3DB5CB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6D6B54-934D-769F-10B0-1F06B2370F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2C0BA4-D2B0-EF28-392E-0BC4671ED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61260-1EFF-5044-B913-A02BE33B7121}" type="datetimeFigureOut">
              <a:rPr lang="en-001" smtClean="0"/>
              <a:t>11/19/2025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0C095-D568-3995-2554-3DFE65D50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BC482-F008-7605-FE4B-952FB65D8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06951-0875-8643-BA7E-C39BCBB83091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546601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-2" y="1042632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2368195"/>
            <a:ext cx="12192000" cy="33087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E9409E-6722-4D1D-BF68-530DA15E46E8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24400" y="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A5686A01-FA10-4E06-92C7-92734750F4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96E69C-EA8C-4B37-8F1F-BD0C3836FBCC}"/>
              </a:ext>
            </a:extLst>
          </p:cNvPr>
          <p:cNvSpPr/>
          <p:nvPr userDrawn="1"/>
        </p:nvSpPr>
        <p:spPr>
          <a:xfrm>
            <a:off x="0" y="-1"/>
            <a:ext cx="12192000" cy="1018800"/>
          </a:xfrm>
          <a:prstGeom prst="rect">
            <a:avLst/>
          </a:prstGeom>
          <a:solidFill>
            <a:sysClr val="windowText" lastClr="000000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MU Sans Serif"/>
              <a:ea typeface="+mn-ea"/>
              <a:cs typeface="+mn-cs"/>
            </a:endParaRPr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4DB37FD6-FFD6-4A3C-9780-6C460EED70A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811197" cy="1018799"/>
          </a:xfrm>
          <a:prstGeom prst="rect">
            <a:avLst/>
          </a:prstGeom>
        </p:spPr>
      </p:pic>
      <p:pic>
        <p:nvPicPr>
          <p:cNvPr id="9" name="Picture 8" descr="Icon&#10;&#10;Description automatically generated with low confidence">
            <a:extLst>
              <a:ext uri="{FF2B5EF4-FFF2-40B4-BE49-F238E27FC236}">
                <a16:creationId xmlns:a16="http://schemas.microsoft.com/office/drawing/2014/main" id="{649FCEFC-7013-4222-9013-007F01EDB21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17044" b="27229"/>
          <a:stretch/>
        </p:blipFill>
        <p:spPr>
          <a:xfrm>
            <a:off x="9810109" y="139405"/>
            <a:ext cx="2381891" cy="7399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6DF48FB-FA9B-4BA8-9E58-F2CC58B0160A}"/>
              </a:ext>
            </a:extLst>
          </p:cNvPr>
          <p:cNvSpPr txBox="1"/>
          <p:nvPr userDrawn="1"/>
        </p:nvSpPr>
        <p:spPr>
          <a:xfrm>
            <a:off x="-2" y="371432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ML for Earth &amp; Env Sci (Chapter 9, FA2025)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73B6DC2F-9988-447F-A7C3-709BC237347B}"/>
              </a:ext>
            </a:extLst>
          </p:cNvPr>
          <p:cNvSpPr txBox="1">
            <a:spLocks/>
          </p:cNvSpPr>
          <p:nvPr userDrawn="1"/>
        </p:nvSpPr>
        <p:spPr>
          <a:xfrm>
            <a:off x="4724400" y="-19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686A01-FA10-4E06-92C7-92734750F4C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MU Sans Serif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82621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-2" y="1042632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2368195"/>
            <a:ext cx="12192000" cy="33087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E9409E-6722-4D1D-BF68-530DA15E46E8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24400" y="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A5686A01-FA10-4E06-92C7-92734750F4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96E69C-EA8C-4B37-8F1F-BD0C3836FBCC}"/>
              </a:ext>
            </a:extLst>
          </p:cNvPr>
          <p:cNvSpPr/>
          <p:nvPr userDrawn="1"/>
        </p:nvSpPr>
        <p:spPr>
          <a:xfrm>
            <a:off x="0" y="-1"/>
            <a:ext cx="12192000" cy="1018800"/>
          </a:xfrm>
          <a:prstGeom prst="rect">
            <a:avLst/>
          </a:prstGeom>
          <a:solidFill>
            <a:sysClr val="windowText" lastClr="000000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MU Sans Serif"/>
              <a:ea typeface="+mn-ea"/>
              <a:cs typeface="+mn-cs"/>
            </a:endParaRPr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4DB37FD6-FFD6-4A3C-9780-6C460EED70A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811197" cy="1018799"/>
          </a:xfrm>
          <a:prstGeom prst="rect">
            <a:avLst/>
          </a:prstGeom>
        </p:spPr>
      </p:pic>
      <p:pic>
        <p:nvPicPr>
          <p:cNvPr id="9" name="Picture 8" descr="Icon&#10;&#10;Description automatically generated with low confidence">
            <a:extLst>
              <a:ext uri="{FF2B5EF4-FFF2-40B4-BE49-F238E27FC236}">
                <a16:creationId xmlns:a16="http://schemas.microsoft.com/office/drawing/2014/main" id="{649FCEFC-7013-4222-9013-007F01EDB21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17044" b="27229"/>
          <a:stretch/>
        </p:blipFill>
        <p:spPr>
          <a:xfrm>
            <a:off x="9810109" y="139405"/>
            <a:ext cx="2381891" cy="7399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6DF48FB-FA9B-4BA8-9E58-F2CC58B0160A}"/>
              </a:ext>
            </a:extLst>
          </p:cNvPr>
          <p:cNvSpPr txBox="1"/>
          <p:nvPr userDrawn="1"/>
        </p:nvSpPr>
        <p:spPr>
          <a:xfrm>
            <a:off x="-2" y="371432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ML for Earth &amp; Env Sci (Week 8, FA2025)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73B6DC2F-9988-447F-A7C3-709BC237347B}"/>
              </a:ext>
            </a:extLst>
          </p:cNvPr>
          <p:cNvSpPr txBox="1">
            <a:spLocks/>
          </p:cNvSpPr>
          <p:nvPr userDrawn="1"/>
        </p:nvSpPr>
        <p:spPr>
          <a:xfrm>
            <a:off x="4724400" y="-19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686A01-FA10-4E06-92C7-92734750F4C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MU Sans Serif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25678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0609B5-43C6-F955-0AEF-75FFAC075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0E9515-A88C-6703-519E-C6E72A21F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9EBE4-77C5-4D3D-A7B0-F2E3F48837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B61260-1EFF-5044-B913-A02BE33B7121}" type="datetimeFigureOut">
              <a:rPr lang="en-001" smtClean="0"/>
              <a:t>11/19/2025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61030-044F-A786-FC08-ED23122ED9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7E46F-5B40-3CE0-FC1E-275180251D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506951-0875-8643-BA7E-C39BCBB83091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277677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001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scikit-learn.org/stable/auto_examples/ensemble/plot_forest_importances.html" TargetMode="Externa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hyperlink" Target="https://shap.readthedocs.io/en/latest/" TargetMode="External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24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notesSlide" Target="../notesSlides/notesSlide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016C7CF-C9AD-402D-B1D3-EA17ED29E245}"/>
              </a:ext>
            </a:extLst>
          </p:cNvPr>
          <p:cNvSpPr/>
          <p:nvPr/>
        </p:nvSpPr>
        <p:spPr>
          <a:xfrm>
            <a:off x="0" y="-1"/>
            <a:ext cx="12192000" cy="10188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50C51A0F-DE65-4DD8-AF36-9706BB26E2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811197" cy="1018799"/>
          </a:xfrm>
          <a:prstGeom prst="rect">
            <a:avLst/>
          </a:prstGeom>
        </p:spPr>
      </p:pic>
      <p:pic>
        <p:nvPicPr>
          <p:cNvPr id="12" name="Picture 11" descr="Icon&#10;&#10;Description automatically generated with low confidence">
            <a:extLst>
              <a:ext uri="{FF2B5EF4-FFF2-40B4-BE49-F238E27FC236}">
                <a16:creationId xmlns:a16="http://schemas.microsoft.com/office/drawing/2014/main" id="{9C72AAB3-16B0-469E-961C-93A20A58C50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17044" b="27229"/>
          <a:stretch/>
        </p:blipFill>
        <p:spPr>
          <a:xfrm>
            <a:off x="9810109" y="139405"/>
            <a:ext cx="2381891" cy="73998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36F0208-B091-4A8E-B00F-31B1AEF44E7D}"/>
              </a:ext>
            </a:extLst>
          </p:cNvPr>
          <p:cNvSpPr txBox="1"/>
          <p:nvPr/>
        </p:nvSpPr>
        <p:spPr>
          <a:xfrm>
            <a:off x="-2" y="371432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ML for Earth &amp; Env Sci (Chapter 9, FA2025)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D8FF54A-18CE-4A3A-B2EA-52A0A2C3D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-1944"/>
            <a:ext cx="2743200" cy="365125"/>
          </a:xfrm>
        </p:spPr>
        <p:txBody>
          <a:bodyPr/>
          <a:lstStyle/>
          <a:p>
            <a:pPr algn="ctr"/>
            <a:fld id="{A5686A01-FA10-4E06-92C7-92734750F4C6}" type="slidenum">
              <a:rPr lang="en-US" smtClean="0"/>
              <a:pPr algn="ctr"/>
              <a:t>1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DA628A-64D9-409C-9EE5-F72C664B46BC}"/>
              </a:ext>
            </a:extLst>
          </p:cNvPr>
          <p:cNvSpPr txBox="1"/>
          <p:nvPr/>
        </p:nvSpPr>
        <p:spPr>
          <a:xfrm>
            <a:off x="74429" y="1027050"/>
            <a:ext cx="121175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How can we better understand and communicate our ML predictions?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1ACAF78-AFE8-4673-9494-6FEEAE38F29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384" t="50088" r="3646"/>
          <a:stretch/>
        </p:blipFill>
        <p:spPr>
          <a:xfrm>
            <a:off x="-16820" y="1618279"/>
            <a:ext cx="7218927" cy="48331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454CE09-042A-4352-B621-F668D6A3EB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63019" t="9143" r="1855"/>
          <a:stretch/>
        </p:blipFill>
        <p:spPr>
          <a:xfrm>
            <a:off x="7202110" y="1618280"/>
            <a:ext cx="4988558" cy="483315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5B444F1-414A-4203-B7FC-2DEE7FB4C090}"/>
              </a:ext>
            </a:extLst>
          </p:cNvPr>
          <p:cNvSpPr txBox="1"/>
          <p:nvPr/>
        </p:nvSpPr>
        <p:spPr>
          <a:xfrm>
            <a:off x="5747676" y="6488668"/>
            <a:ext cx="6442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i="1" u="sng" dirty="0"/>
              <a:t>Source</a:t>
            </a:r>
            <a:r>
              <a:rPr lang="en-US" i="1" dirty="0"/>
              <a:t>: Gagne et al. (2019)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9CDEA1-726B-455E-9812-0E7424636482}"/>
              </a:ext>
            </a:extLst>
          </p:cNvPr>
          <p:cNvSpPr txBox="1"/>
          <p:nvPr/>
        </p:nvSpPr>
        <p:spPr>
          <a:xfrm>
            <a:off x="-16820" y="6488668"/>
            <a:ext cx="948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i="1" dirty="0"/>
              <a:t>(Left) Which neurons activate? (Right) Which patterns maximize the probability of severe hail?</a:t>
            </a:r>
          </a:p>
        </p:txBody>
      </p:sp>
    </p:spTree>
    <p:extLst>
      <p:ext uri="{BB962C8B-B14F-4D97-AF65-F5344CB8AC3E}">
        <p14:creationId xmlns:p14="http://schemas.microsoft.com/office/powerpoint/2010/main" val="9716056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1E10A-3459-4F37-B2D1-3F864BD5CB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31359"/>
            <a:ext cx="12192000" cy="1765004"/>
          </a:xfrm>
        </p:spPr>
        <p:txBody>
          <a:bodyPr>
            <a:normAutofit/>
          </a:bodyPr>
          <a:lstStyle/>
          <a:p>
            <a:r>
              <a:rPr lang="en-US" dirty="0"/>
              <a:t>Min 75-105: Intro to XAI = </a:t>
            </a:r>
            <a:r>
              <a:rPr lang="en-US" dirty="0" err="1"/>
              <a:t>eXplainable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Artificial Intelligence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51D8F-8562-4A80-A9B3-5D34DC991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2</a:t>
            </a:fld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938649D-351C-4F26-B22E-257FBE0817E2}"/>
              </a:ext>
            </a:extLst>
          </p:cNvPr>
          <p:cNvSpPr txBox="1">
            <a:spLocks/>
          </p:cNvSpPr>
          <p:nvPr/>
        </p:nvSpPr>
        <p:spPr>
          <a:xfrm>
            <a:off x="0" y="3462597"/>
            <a:ext cx="12192001" cy="2796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 dirty="0"/>
              <a:t>Learning Objectives</a:t>
            </a:r>
            <a:r>
              <a:rPr lang="en-US" dirty="0"/>
              <a:t> (Reading = Molnar extracts):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Understand the importance of XAI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Distinguish local from global explanation methods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Distinguish model-agnostic from model-specific methods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Know how to implement permutation feature importance and partial dependence plots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Apprehend explanation methods for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15713805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90E96-404C-4E2F-AFC3-F2AB49F74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1042633"/>
            <a:ext cx="12192000" cy="908088"/>
          </a:xfrm>
        </p:spPr>
        <p:txBody>
          <a:bodyPr/>
          <a:lstStyle/>
          <a:p>
            <a:r>
              <a:rPr lang="en-US" dirty="0"/>
              <a:t>Why bother with XAI?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22AA23-9312-4197-AD5F-1E900AB1A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632D27-C4FA-4E73-9E51-D0C97916D584}"/>
              </a:ext>
            </a:extLst>
          </p:cNvPr>
          <p:cNvSpPr txBox="1"/>
          <p:nvPr/>
        </p:nvSpPr>
        <p:spPr>
          <a:xfrm>
            <a:off x="13919198" y="4135120"/>
            <a:ext cx="23571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000" dirty="0"/>
              <a:t>Horse/label</a:t>
            </a:r>
          </a:p>
          <a:p>
            <a:pPr algn="l"/>
            <a:r>
              <a:rPr lang="en-US" sz="3000" dirty="0"/>
              <a:t>Would you trust the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DCCCF8-A1FE-48E6-84EF-73D31BDE0819}"/>
              </a:ext>
            </a:extLst>
          </p:cNvPr>
          <p:cNvSpPr txBox="1"/>
          <p:nvPr/>
        </p:nvSpPr>
        <p:spPr>
          <a:xfrm>
            <a:off x="12446000" y="2651928"/>
            <a:ext cx="43383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000" dirty="0"/>
              <a:t>Environmental examples from students</a:t>
            </a:r>
          </a:p>
        </p:txBody>
      </p:sp>
      <p:pic>
        <p:nvPicPr>
          <p:cNvPr id="7" name="Picture 6" descr="Graphical user interface&#10;&#10;Description automatically generated">
            <a:extLst>
              <a:ext uri="{FF2B5EF4-FFF2-40B4-BE49-F238E27FC236}">
                <a16:creationId xmlns:a16="http://schemas.microsoft.com/office/drawing/2014/main" id="{2ED48439-075C-4319-9292-3D3F6ED1AE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2061378"/>
            <a:ext cx="12192000" cy="401273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C17577D-115D-4915-AE63-54CC93EAD758}"/>
              </a:ext>
            </a:extLst>
          </p:cNvPr>
          <p:cNvSpPr/>
          <p:nvPr/>
        </p:nvSpPr>
        <p:spPr>
          <a:xfrm>
            <a:off x="-182882" y="5382783"/>
            <a:ext cx="12547600" cy="6913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C0AEC3-D125-4728-8491-602239E3DFCC}"/>
              </a:ext>
            </a:extLst>
          </p:cNvPr>
          <p:cNvSpPr txBox="1"/>
          <p:nvPr/>
        </p:nvSpPr>
        <p:spPr>
          <a:xfrm>
            <a:off x="1524002" y="6488667"/>
            <a:ext cx="10667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i="1" u="sng" dirty="0"/>
              <a:t>Source:</a:t>
            </a:r>
            <a:r>
              <a:rPr lang="en-US" i="1" dirty="0"/>
              <a:t> </a:t>
            </a:r>
            <a:r>
              <a:rPr lang="en-US" i="1" dirty="0" err="1"/>
              <a:t>Geirhos</a:t>
            </a:r>
            <a:r>
              <a:rPr lang="en-US" i="1" dirty="0"/>
              <a:t> et al. (2020) arXiv:2004.07780.</a:t>
            </a:r>
          </a:p>
        </p:txBody>
      </p:sp>
    </p:spTree>
    <p:extLst>
      <p:ext uri="{BB962C8B-B14F-4D97-AF65-F5344CB8AC3E}">
        <p14:creationId xmlns:p14="http://schemas.microsoft.com/office/powerpoint/2010/main" val="29772912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90E96-404C-4E2F-AFC3-F2AB49F74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1042633"/>
            <a:ext cx="12192000" cy="908088"/>
          </a:xfrm>
        </p:spPr>
        <p:txBody>
          <a:bodyPr/>
          <a:lstStyle/>
          <a:p>
            <a:r>
              <a:rPr lang="en-US" dirty="0"/>
              <a:t>Why bother with XAI? Because NNs take shortcuts!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22AA23-9312-4197-AD5F-1E900AB1A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4</a:t>
            </a:fld>
            <a:endParaRPr lang="en-US"/>
          </a:p>
        </p:txBody>
      </p:sp>
      <p:pic>
        <p:nvPicPr>
          <p:cNvPr id="7" name="Picture 6" descr="Graphical user interface&#10;&#10;Description automatically generated">
            <a:extLst>
              <a:ext uri="{FF2B5EF4-FFF2-40B4-BE49-F238E27FC236}">
                <a16:creationId xmlns:a16="http://schemas.microsoft.com/office/drawing/2014/main" id="{2ED48439-075C-4319-9292-3D3F6ED1AE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2061378"/>
            <a:ext cx="12192000" cy="40127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7AC7F07-8FF1-47CC-B5A4-6ECCEEC3420F}"/>
              </a:ext>
            </a:extLst>
          </p:cNvPr>
          <p:cNvSpPr txBox="1"/>
          <p:nvPr/>
        </p:nvSpPr>
        <p:spPr>
          <a:xfrm>
            <a:off x="1524002" y="6488667"/>
            <a:ext cx="10667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i="1" u="sng" dirty="0"/>
              <a:t>Source:</a:t>
            </a:r>
            <a:r>
              <a:rPr lang="en-US" i="1" dirty="0"/>
              <a:t> </a:t>
            </a:r>
            <a:r>
              <a:rPr lang="en-US" i="1" dirty="0" err="1"/>
              <a:t>Geirhos</a:t>
            </a:r>
            <a:r>
              <a:rPr lang="en-US" i="1" dirty="0"/>
              <a:t> et al. (2020) arXiv:2004.07780.</a:t>
            </a:r>
          </a:p>
        </p:txBody>
      </p:sp>
    </p:spTree>
    <p:extLst>
      <p:ext uri="{BB962C8B-B14F-4D97-AF65-F5344CB8AC3E}">
        <p14:creationId xmlns:p14="http://schemas.microsoft.com/office/powerpoint/2010/main" val="24398931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EB319-68ED-45F2-9EFF-D0F8FDAD2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Interpretability = Degree to which a human can understand the cause of a decision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792CEB-1178-4853-9C60-EAC53B4E2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6D97B6-665C-4B6D-A866-319DF371AA06}"/>
              </a:ext>
            </a:extLst>
          </p:cNvPr>
          <p:cNvSpPr txBox="1"/>
          <p:nvPr/>
        </p:nvSpPr>
        <p:spPr>
          <a:xfrm>
            <a:off x="4452284" y="2368195"/>
            <a:ext cx="77397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u="sng" dirty="0"/>
              <a:t>Advantages of XAI</a:t>
            </a:r>
            <a:r>
              <a:rPr lang="en-US" sz="3000" dirty="0"/>
              <a:t>: Robustness, Trustworthiness, Scientific Insight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C40652-A1CC-438D-B4D4-C6DF7A8292C4}"/>
              </a:ext>
            </a:extLst>
          </p:cNvPr>
          <p:cNvSpPr txBox="1"/>
          <p:nvPr/>
        </p:nvSpPr>
        <p:spPr>
          <a:xfrm>
            <a:off x="1524002" y="6488667"/>
            <a:ext cx="10667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i="1" u="sng" dirty="0"/>
              <a:t>Source:</a:t>
            </a:r>
            <a:r>
              <a:rPr lang="en-US" i="1" dirty="0"/>
              <a:t> Interpretable Machine Learning, C. Molnar (2019)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40569C-F6FC-463B-98A8-76CB741AAA7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33" r="25072" b="1522"/>
          <a:stretch/>
        </p:blipFill>
        <p:spPr>
          <a:xfrm>
            <a:off x="-2" y="2368195"/>
            <a:ext cx="4452286" cy="4489805"/>
          </a:xfrm>
          <a:prstGeom prst="rect">
            <a:avLst/>
          </a:prstGeom>
          <a:ln w="127000"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FCCF4D-6ABD-4A95-A2BB-B0652BDB5AFE}"/>
              </a:ext>
            </a:extLst>
          </p:cNvPr>
          <p:cNvSpPr txBox="1"/>
          <p:nvPr/>
        </p:nvSpPr>
        <p:spPr>
          <a:xfrm>
            <a:off x="9580878" y="4336098"/>
            <a:ext cx="26111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0" fontAlgn="b"/>
            <a:r>
              <a:rPr lang="en-US" dirty="0">
                <a:effectLst/>
              </a:rPr>
              <a:t>Spam email detection</a:t>
            </a:r>
          </a:p>
          <a:p>
            <a:pPr algn="r" rtl="0" fontAlgn="b"/>
            <a:endParaRPr lang="en-US" dirty="0">
              <a:effectLst/>
            </a:endParaRPr>
          </a:p>
          <a:p>
            <a:pPr algn="r" rtl="0" fontAlgn="b"/>
            <a:r>
              <a:rPr lang="en-US" dirty="0">
                <a:effectLst/>
              </a:rPr>
              <a:t>When the model output has no importance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ECA8FE-0716-454F-A93C-8E17DDF2E854}"/>
              </a:ext>
            </a:extLst>
          </p:cNvPr>
          <p:cNvSpPr txBox="1"/>
          <p:nvPr/>
        </p:nvSpPr>
        <p:spPr>
          <a:xfrm>
            <a:off x="4452284" y="4336098"/>
            <a:ext cx="38662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Wildfire susceptibility mapping to inform risk management</a:t>
            </a:r>
          </a:p>
          <a:p>
            <a:endParaRPr lang="en-US" dirty="0"/>
          </a:p>
          <a:p>
            <a:r>
              <a:rPr lang="en-US" dirty="0"/>
              <a:t>Land use classification to inform policy</a:t>
            </a:r>
          </a:p>
        </p:txBody>
      </p:sp>
    </p:spTree>
    <p:extLst>
      <p:ext uri="{BB962C8B-B14F-4D97-AF65-F5344CB8AC3E}">
        <p14:creationId xmlns:p14="http://schemas.microsoft.com/office/powerpoint/2010/main" val="16331464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EB319-68ED-45F2-9EFF-D0F8FDAD2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Interpretability = Degree to which a human can understand the cause of a decision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792CEB-1178-4853-9C60-EAC53B4E2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6D97B6-665C-4B6D-A866-319DF371AA06}"/>
              </a:ext>
            </a:extLst>
          </p:cNvPr>
          <p:cNvSpPr txBox="1"/>
          <p:nvPr/>
        </p:nvSpPr>
        <p:spPr>
          <a:xfrm>
            <a:off x="4452284" y="2368195"/>
            <a:ext cx="77397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u="sng" dirty="0"/>
              <a:t>Advantages of XAI</a:t>
            </a:r>
            <a:r>
              <a:rPr lang="en-US" sz="3000" dirty="0"/>
              <a:t>: Robustness, Trustworthiness, Scientific Insight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C40652-A1CC-438D-B4D4-C6DF7A8292C4}"/>
              </a:ext>
            </a:extLst>
          </p:cNvPr>
          <p:cNvSpPr txBox="1"/>
          <p:nvPr/>
        </p:nvSpPr>
        <p:spPr>
          <a:xfrm>
            <a:off x="1524002" y="6488667"/>
            <a:ext cx="10667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i="1" u="sng" dirty="0"/>
              <a:t>Source:</a:t>
            </a:r>
            <a:r>
              <a:rPr lang="en-US" i="1" dirty="0"/>
              <a:t> Interpretable Machine Learning, C. Molnar (2019)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40569C-F6FC-463B-98A8-76CB741AAA7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33" r="25072" b="1522"/>
          <a:stretch/>
        </p:blipFill>
        <p:spPr>
          <a:xfrm>
            <a:off x="-2" y="2368195"/>
            <a:ext cx="4452286" cy="4489805"/>
          </a:xfrm>
          <a:prstGeom prst="rect">
            <a:avLst/>
          </a:prstGeom>
          <a:ln w="127000"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FCCF4D-6ABD-4A95-A2BB-B0652BDB5AFE}"/>
              </a:ext>
            </a:extLst>
          </p:cNvPr>
          <p:cNvSpPr txBox="1"/>
          <p:nvPr/>
        </p:nvSpPr>
        <p:spPr>
          <a:xfrm>
            <a:off x="9580878" y="4336098"/>
            <a:ext cx="26111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0" fontAlgn="b"/>
            <a:r>
              <a:rPr lang="en-US" dirty="0">
                <a:solidFill>
                  <a:srgbClr val="FF0000"/>
                </a:solidFill>
                <a:effectLst/>
              </a:rPr>
              <a:t>Spam email detection</a:t>
            </a:r>
          </a:p>
          <a:p>
            <a:pPr algn="r" rtl="0" fontAlgn="b"/>
            <a:endParaRPr lang="en-US" dirty="0">
              <a:solidFill>
                <a:srgbClr val="FF0000"/>
              </a:solidFill>
              <a:effectLst/>
            </a:endParaRPr>
          </a:p>
          <a:p>
            <a:pPr algn="r" rtl="0" fontAlgn="b"/>
            <a:r>
              <a:rPr lang="en-US" dirty="0">
                <a:solidFill>
                  <a:srgbClr val="FF0000"/>
                </a:solidFill>
                <a:effectLst/>
              </a:rPr>
              <a:t>When the model output has no importance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ECA8FE-0716-454F-A93C-8E17DDF2E854}"/>
              </a:ext>
            </a:extLst>
          </p:cNvPr>
          <p:cNvSpPr txBox="1"/>
          <p:nvPr/>
        </p:nvSpPr>
        <p:spPr>
          <a:xfrm>
            <a:off x="4452284" y="4336098"/>
            <a:ext cx="38662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Wildfire susceptibility mapping to inform risk management</a:t>
            </a:r>
          </a:p>
          <a:p>
            <a:endParaRPr lang="en-US" dirty="0">
              <a:solidFill>
                <a:srgbClr val="00B050"/>
              </a:solidFill>
            </a:endParaRPr>
          </a:p>
          <a:p>
            <a:r>
              <a:rPr lang="en-US" dirty="0">
                <a:solidFill>
                  <a:srgbClr val="00B050"/>
                </a:solidFill>
              </a:rPr>
              <a:t>Land use classification to inform policy</a:t>
            </a:r>
          </a:p>
        </p:txBody>
      </p:sp>
    </p:spTree>
    <p:extLst>
      <p:ext uri="{BB962C8B-B14F-4D97-AF65-F5344CB8AC3E}">
        <p14:creationId xmlns:p14="http://schemas.microsoft.com/office/powerpoint/2010/main" val="34509127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4E45-8D05-45CA-A47A-7711236D7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1042633"/>
            <a:ext cx="12192000" cy="1009687"/>
          </a:xfrm>
        </p:spPr>
        <p:txBody>
          <a:bodyPr/>
          <a:lstStyle/>
          <a:p>
            <a:r>
              <a:rPr lang="en-US" dirty="0"/>
              <a:t>Some algorithms are inherently interpretable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FC6694-3661-46A0-A1C5-23FEF1E31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995EAD-5755-4E2C-BBD7-608EBB3E86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015" y="2052320"/>
            <a:ext cx="6654019" cy="48056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8F6A859-5DFC-467A-A0E0-34D79540703B}"/>
              </a:ext>
            </a:extLst>
          </p:cNvPr>
          <p:cNvSpPr/>
          <p:nvPr/>
        </p:nvSpPr>
        <p:spPr>
          <a:xfrm>
            <a:off x="8750085" y="6488668"/>
            <a:ext cx="34419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1" u="sng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Source</a:t>
            </a:r>
            <a:r>
              <a:rPr kumimoji="0" lang="de-DE" sz="18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: </a:t>
            </a: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Beucler et al. (2021)</a:t>
            </a:r>
          </a:p>
        </p:txBody>
      </p:sp>
      <p:pic>
        <p:nvPicPr>
          <p:cNvPr id="7" name="Picture 6" descr="\documentclass{article}&#10;\usepackage{amsmath,xcolor}&#10;\pagestyle{empty}&#10;\begin{document}&#10;&#10;\textcolor{white}{$y=\beta_0 + \beta_1 x_1 + \beta_2 x_2$} &#10;&#10;&#10;\end{document}" title="IguanaTex Bitmap Display">
            <a:extLst>
              <a:ext uri="{FF2B5EF4-FFF2-40B4-BE49-F238E27FC236}">
                <a16:creationId xmlns:a16="http://schemas.microsoft.com/office/drawing/2014/main" id="{B7C6E8AA-BB5F-4BED-A3C2-D986B0FF7BA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3051" y="3111936"/>
            <a:ext cx="4629151" cy="457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92542CD-9E94-426C-A55C-AF7235884DE2}"/>
              </a:ext>
            </a:extLst>
          </p:cNvPr>
          <p:cNvSpPr txBox="1"/>
          <p:nvPr/>
        </p:nvSpPr>
        <p:spPr>
          <a:xfrm>
            <a:off x="6979920" y="1949728"/>
            <a:ext cx="52120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000" u="sng" dirty="0"/>
              <a:t>Example</a:t>
            </a:r>
            <a:r>
              <a:rPr lang="en-US" sz="3000" dirty="0"/>
              <a:t>: Linear regression with one output and two inputs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71A3EF-9F95-464F-B5C6-3DBB5A055837}"/>
              </a:ext>
            </a:extLst>
          </p:cNvPr>
          <p:cNvSpPr txBox="1"/>
          <p:nvPr/>
        </p:nvSpPr>
        <p:spPr>
          <a:xfrm>
            <a:off x="6876051" y="3692482"/>
            <a:ext cx="531594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000" u="sng" dirty="0"/>
              <a:t>Naive</a:t>
            </a:r>
            <a:r>
              <a:rPr lang="en-US" sz="3000" dirty="0"/>
              <a:t>: Read coefficients</a:t>
            </a:r>
          </a:p>
          <a:p>
            <a:pPr algn="l"/>
            <a:endParaRPr lang="en-US" sz="3000" dirty="0"/>
          </a:p>
          <a:p>
            <a:pPr algn="l"/>
            <a:r>
              <a:rPr lang="en-US" sz="3000" u="sng" dirty="0"/>
              <a:t>Feature importance</a:t>
            </a:r>
            <a:r>
              <a:rPr lang="en-US" sz="3000" dirty="0"/>
              <a:t>:</a:t>
            </a:r>
          </a:p>
          <a:p>
            <a:pPr algn="l"/>
            <a:r>
              <a:rPr lang="en-US" sz="3000" dirty="0"/>
              <a:t>(One sample) Compare terms</a:t>
            </a:r>
          </a:p>
          <a:p>
            <a:pPr algn="l"/>
            <a:r>
              <a:rPr lang="en-US" sz="3000" dirty="0"/>
              <a:t>(Entire set) Average absolute terms over the entire set</a:t>
            </a:r>
          </a:p>
        </p:txBody>
      </p:sp>
    </p:spTree>
    <p:extLst>
      <p:ext uri="{BB962C8B-B14F-4D97-AF65-F5344CB8AC3E}">
        <p14:creationId xmlns:p14="http://schemas.microsoft.com/office/powerpoint/2010/main" val="35080119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FC6694-3661-46A0-A1C5-23FEF1E31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8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F6A859-5DFC-467A-A0E0-34D79540703B}"/>
              </a:ext>
            </a:extLst>
          </p:cNvPr>
          <p:cNvSpPr/>
          <p:nvPr/>
        </p:nvSpPr>
        <p:spPr>
          <a:xfrm>
            <a:off x="8750085" y="6488668"/>
            <a:ext cx="34419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1" u="sng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Source</a:t>
            </a:r>
            <a:r>
              <a:rPr kumimoji="0" lang="de-DE" sz="18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: </a:t>
            </a: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Beucler et al. (2021)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71A3EF-9F95-464F-B5C6-3DBB5A055837}"/>
              </a:ext>
            </a:extLst>
          </p:cNvPr>
          <p:cNvSpPr txBox="1"/>
          <p:nvPr/>
        </p:nvSpPr>
        <p:spPr>
          <a:xfrm>
            <a:off x="6876051" y="3692482"/>
            <a:ext cx="531594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000" u="sng" dirty="0"/>
              <a:t> </a:t>
            </a:r>
            <a:endParaRPr lang="en-US" sz="3000" dirty="0"/>
          </a:p>
          <a:p>
            <a:pPr algn="l"/>
            <a:endParaRPr lang="en-US" sz="3000" dirty="0"/>
          </a:p>
          <a:p>
            <a:pPr algn="l"/>
            <a:r>
              <a:rPr lang="en-US" sz="3000" u="sng" dirty="0"/>
              <a:t>Feature importance</a:t>
            </a:r>
            <a:r>
              <a:rPr lang="en-US" sz="3000" dirty="0"/>
              <a:t>:</a:t>
            </a:r>
          </a:p>
          <a:p>
            <a:pPr algn="l"/>
            <a:r>
              <a:rPr lang="en-US" sz="3000" dirty="0">
                <a:solidFill>
                  <a:srgbClr val="00B0F0"/>
                </a:solidFill>
              </a:rPr>
              <a:t>(One sample)</a:t>
            </a:r>
            <a:r>
              <a:rPr lang="en-US" sz="3000" dirty="0"/>
              <a:t> Compare terms</a:t>
            </a:r>
          </a:p>
          <a:p>
            <a:pPr algn="l"/>
            <a:r>
              <a:rPr lang="en-US" sz="3000" dirty="0">
                <a:solidFill>
                  <a:srgbClr val="C218C2"/>
                </a:solidFill>
              </a:rPr>
              <a:t>(Entire set) </a:t>
            </a:r>
            <a:r>
              <a:rPr lang="en-US" sz="3000" dirty="0"/>
              <a:t>Average absolute terms over the entire set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CCD37C8-ED7E-4891-9F40-3375A95F6523}"/>
              </a:ext>
            </a:extLst>
          </p:cNvPr>
          <p:cNvSpPr txBox="1">
            <a:spLocks/>
          </p:cNvSpPr>
          <p:nvPr/>
        </p:nvSpPr>
        <p:spPr>
          <a:xfrm>
            <a:off x="-2" y="1042633"/>
            <a:ext cx="12192000" cy="918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B0F0"/>
                </a:solidFill>
              </a:rPr>
              <a:t>Local (sample-level)</a:t>
            </a:r>
            <a:r>
              <a:rPr lang="en-US" dirty="0"/>
              <a:t> </a:t>
            </a:r>
            <a:r>
              <a:rPr lang="en-US" dirty="0">
                <a:cs typeface="Times New Roman" panose="02020603050405020304" pitchFamily="18" charset="0"/>
              </a:rPr>
              <a:t>≠ </a:t>
            </a:r>
            <a:r>
              <a:rPr lang="en-US" dirty="0">
                <a:solidFill>
                  <a:srgbClr val="C218C2"/>
                </a:solidFill>
                <a:cs typeface="Times New Roman" panose="02020603050405020304" pitchFamily="18" charset="0"/>
              </a:rPr>
              <a:t>Global</a:t>
            </a:r>
            <a:r>
              <a:rPr lang="en-US" dirty="0">
                <a:cs typeface="Times New Roman" panose="02020603050405020304" pitchFamily="18" charset="0"/>
              </a:rPr>
              <a:t> Explanation</a:t>
            </a:r>
            <a:endParaRPr lang="en-US" dirty="0"/>
          </a:p>
        </p:txBody>
      </p:sp>
      <p:sp>
        <p:nvSpPr>
          <p:cNvPr id="12" name="Arrow: U-Turn 11">
            <a:extLst>
              <a:ext uri="{FF2B5EF4-FFF2-40B4-BE49-F238E27FC236}">
                <a16:creationId xmlns:a16="http://schemas.microsoft.com/office/drawing/2014/main" id="{43DD390A-48A4-44A1-8B4F-438C2162227B}"/>
              </a:ext>
            </a:extLst>
          </p:cNvPr>
          <p:cNvSpPr/>
          <p:nvPr/>
        </p:nvSpPr>
        <p:spPr>
          <a:xfrm flipV="1">
            <a:off x="3810000" y="1956479"/>
            <a:ext cx="3657600" cy="1265846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10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4B42E0-1D3D-4692-983C-3630F5665E77}"/>
              </a:ext>
            </a:extLst>
          </p:cNvPr>
          <p:cNvSpPr txBox="1"/>
          <p:nvPr/>
        </p:nvSpPr>
        <p:spPr>
          <a:xfrm>
            <a:off x="3810000" y="3222325"/>
            <a:ext cx="3657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solidFill>
                  <a:srgbClr val="00B0F0"/>
                </a:solidFill>
              </a:rPr>
              <a:t>Ensemble mean of</a:t>
            </a:r>
            <a:br>
              <a:rPr lang="en-US" sz="3000" dirty="0">
                <a:solidFill>
                  <a:srgbClr val="00B0F0"/>
                </a:solidFill>
              </a:rPr>
            </a:br>
            <a:r>
              <a:rPr lang="en-US" sz="3000" dirty="0">
                <a:solidFill>
                  <a:srgbClr val="00B0F0"/>
                </a:solidFill>
              </a:rPr>
              <a:t>absolute values</a:t>
            </a:r>
          </a:p>
        </p:txBody>
      </p:sp>
    </p:spTree>
    <p:extLst>
      <p:ext uri="{BB962C8B-B14F-4D97-AF65-F5344CB8AC3E}">
        <p14:creationId xmlns:p14="http://schemas.microsoft.com/office/powerpoint/2010/main" val="42782907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55C9E-3020-46D6-B491-80C825A0A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Permutation</a:t>
            </a:r>
            <a:r>
              <a:rPr lang="en-US" dirty="0"/>
              <a:t> </a:t>
            </a:r>
            <a:r>
              <a:rPr lang="en-US" b="1" dirty="0"/>
              <a:t>feature importance</a:t>
            </a:r>
            <a:r>
              <a:rPr lang="en-US" dirty="0"/>
              <a:t> = Increase in prediction error in response to feature permutation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B38937-6C24-42D8-9B08-907CEC49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D10D6D-E891-459D-B49E-2BF4C8B29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5124115"/>
            <a:ext cx="12192000" cy="17338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976CAA-B92E-4954-B22C-5AF9DC20D868}"/>
              </a:ext>
            </a:extLst>
          </p:cNvPr>
          <p:cNvSpPr txBox="1"/>
          <p:nvPr/>
        </p:nvSpPr>
        <p:spPr>
          <a:xfrm>
            <a:off x="0" y="4500880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000" u="sng" dirty="0"/>
              <a:t>For your project</a:t>
            </a:r>
            <a:r>
              <a:rPr lang="en-US" sz="3000" dirty="0"/>
              <a:t>: Calculate </a:t>
            </a:r>
            <a:r>
              <a:rPr lang="en-US" sz="3000" i="1" dirty="0"/>
              <a:t>random</a:t>
            </a:r>
            <a:r>
              <a:rPr lang="en-US" sz="3000" dirty="0"/>
              <a:t> PFI on test data using e.g., scikit-learn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C9FFC6-4140-479F-B5C1-86A2F4BC37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7178" y="2310024"/>
            <a:ext cx="3004820" cy="21562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1EC401-81DD-45D9-89E6-4A636B0DD9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2357" y="2310024"/>
            <a:ext cx="3004821" cy="215492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8A13A69-030F-46EB-9682-8C9636438678}"/>
              </a:ext>
            </a:extLst>
          </p:cNvPr>
          <p:cNvSpPr txBox="1"/>
          <p:nvPr/>
        </p:nvSpPr>
        <p:spPr>
          <a:xfrm>
            <a:off x="0" y="3045702"/>
            <a:ext cx="618235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000" dirty="0"/>
              <a:t>Predicting bike counts with SVM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5C31B1-78C4-481A-BD77-D8A5B194668F}"/>
              </a:ext>
            </a:extLst>
          </p:cNvPr>
          <p:cNvSpPr txBox="1"/>
          <p:nvPr/>
        </p:nvSpPr>
        <p:spPr>
          <a:xfrm>
            <a:off x="5008880" y="2308713"/>
            <a:ext cx="117347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000" dirty="0"/>
              <a:t>temp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358838-A5CD-4136-AFC5-5F006C7A0411}"/>
              </a:ext>
            </a:extLst>
          </p:cNvPr>
          <p:cNvSpPr txBox="1"/>
          <p:nvPr/>
        </p:nvSpPr>
        <p:spPr>
          <a:xfrm>
            <a:off x="4196080" y="3912264"/>
            <a:ext cx="198627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000" dirty="0"/>
              <a:t>⚠️holiday</a:t>
            </a:r>
          </a:p>
        </p:txBody>
      </p:sp>
    </p:spTree>
    <p:extLst>
      <p:ext uri="{BB962C8B-B14F-4D97-AF65-F5344CB8AC3E}">
        <p14:creationId xmlns:p14="http://schemas.microsoft.com/office/powerpoint/2010/main" val="540560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1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18CD7-258D-41CF-B338-B22DB6036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Model-</a:t>
            </a:r>
            <a:r>
              <a:rPr lang="en-US" b="1" dirty="0"/>
              <a:t>agnostic</a:t>
            </a:r>
            <a:r>
              <a:rPr lang="en-US" dirty="0"/>
              <a:t> versus </a:t>
            </a:r>
            <a:r>
              <a:rPr lang="en-US" b="1" dirty="0"/>
              <a:t>model-specific</a:t>
            </a:r>
            <a:r>
              <a:rPr lang="en-US" dirty="0"/>
              <a:t> explanation</a:t>
            </a:r>
            <a:br>
              <a:rPr lang="en-US" dirty="0"/>
            </a:br>
            <a:r>
              <a:rPr lang="en-US" dirty="0"/>
              <a:t>Example: Random forests (see final project)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37495D-F85F-40FA-9B64-5EFB617A9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10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DBAAB4-3D5E-448E-A334-F339E3F3F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280" y="2286000"/>
            <a:ext cx="4998720" cy="42411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DFAAAD-4AA3-481E-93F5-5F3F27FF51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" y="2285640"/>
            <a:ext cx="5588004" cy="42431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F9A16F-46C2-4391-AEE9-5506F7435703}"/>
              </a:ext>
            </a:extLst>
          </p:cNvPr>
          <p:cNvSpPr txBox="1"/>
          <p:nvPr/>
        </p:nvSpPr>
        <p:spPr>
          <a:xfrm>
            <a:off x="1524002" y="6488667"/>
            <a:ext cx="10667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i="1" u="sng" dirty="0"/>
              <a:t>Source:</a:t>
            </a:r>
            <a:r>
              <a:rPr lang="en-US" i="1" dirty="0"/>
              <a:t> </a:t>
            </a:r>
            <a:r>
              <a:rPr lang="en-US" i="1" dirty="0">
                <a:hlinkClick r:id="rId5"/>
              </a:rPr>
              <a:t>https://scikit-learn.org/stable/auto_examples/ensemble/plot_forest_importances.html</a:t>
            </a:r>
            <a:r>
              <a:rPr lang="en-US" i="1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D2F332-A17C-4094-B66E-F21F8C32D355}"/>
              </a:ext>
            </a:extLst>
          </p:cNvPr>
          <p:cNvSpPr txBox="1"/>
          <p:nvPr/>
        </p:nvSpPr>
        <p:spPr>
          <a:xfrm>
            <a:off x="3220720" y="3535680"/>
            <a:ext cx="21539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Random </a:t>
            </a:r>
          </a:p>
          <a:p>
            <a:pPr algn="ctr"/>
            <a:r>
              <a:rPr lang="en-US" sz="3000" dirty="0">
                <a:solidFill>
                  <a:schemeClr val="bg1"/>
                </a:solidFill>
              </a:rPr>
              <a:t>Feature</a:t>
            </a:r>
          </a:p>
          <a:p>
            <a:pPr algn="ctr"/>
            <a:r>
              <a:rPr lang="en-US" sz="3000" dirty="0">
                <a:solidFill>
                  <a:schemeClr val="bg1"/>
                </a:solidFill>
              </a:rPr>
              <a:t>Permutation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BD4144-3067-4CC7-9E6C-9E7B84542BD7}"/>
              </a:ext>
            </a:extLst>
          </p:cNvPr>
          <p:cNvSpPr txBox="1"/>
          <p:nvPr/>
        </p:nvSpPr>
        <p:spPr>
          <a:xfrm>
            <a:off x="9895840" y="3798264"/>
            <a:ext cx="21437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Mean Decrease Impurity</a:t>
            </a:r>
          </a:p>
        </p:txBody>
      </p:sp>
    </p:spTree>
    <p:extLst>
      <p:ext uri="{BB962C8B-B14F-4D97-AF65-F5344CB8AC3E}">
        <p14:creationId xmlns:p14="http://schemas.microsoft.com/office/powerpoint/2010/main" val="5814077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18CD7-258D-41CF-B338-B22DB6036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Model-</a:t>
            </a:r>
            <a:r>
              <a:rPr lang="en-US" b="1" dirty="0"/>
              <a:t>agnostic</a:t>
            </a:r>
            <a:r>
              <a:rPr lang="en-US" dirty="0"/>
              <a:t> versus </a:t>
            </a:r>
            <a:r>
              <a:rPr lang="en-US" b="1" dirty="0"/>
              <a:t>model-specific</a:t>
            </a:r>
            <a:r>
              <a:rPr lang="en-US" dirty="0"/>
              <a:t> explanation</a:t>
            </a:r>
            <a:br>
              <a:rPr lang="en-US" dirty="0"/>
            </a:br>
            <a:r>
              <a:rPr lang="en-US" dirty="0"/>
              <a:t>Example 2: </a:t>
            </a:r>
            <a:r>
              <a:rPr lang="en-US" dirty="0" err="1"/>
              <a:t>SHAPley</a:t>
            </a:r>
            <a:r>
              <a:rPr lang="en-US" dirty="0"/>
              <a:t> values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37495D-F85F-40FA-9B64-5EFB617A9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11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F8EB6C-60F9-47EF-8E7C-6DFF3CD08C27}"/>
              </a:ext>
            </a:extLst>
          </p:cNvPr>
          <p:cNvSpPr/>
          <p:nvPr/>
        </p:nvSpPr>
        <p:spPr>
          <a:xfrm>
            <a:off x="7836773" y="6211668"/>
            <a:ext cx="435522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1" u="sng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Source</a:t>
            </a:r>
            <a:r>
              <a:rPr kumimoji="0" lang="de-DE" sz="18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: </a:t>
            </a: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Shapley (1951), </a:t>
            </a: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hlinkClick r:id="rId3"/>
              </a:rPr>
              <a:t>https://shap.readthedocs.io/en/latest/</a:t>
            </a: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C129A9-7BA2-452C-847E-F52AA1585D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2596" y="2488557"/>
            <a:ext cx="7929370" cy="44210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61F022-E508-4D43-AA8D-7FB9858FC8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2412" y="2488556"/>
            <a:ext cx="4459586" cy="14236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BBB59FA-BA00-4251-AC42-7E45FD4110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6773" y="3894973"/>
            <a:ext cx="3151649" cy="109941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F3D62B8-3745-4EAF-BBB5-F250243CBF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36773" y="5191618"/>
            <a:ext cx="2486683" cy="10994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74C2966-7EA0-4A72-B3F9-1BDCE14152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62205" y="4577696"/>
            <a:ext cx="2655807" cy="1205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027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1E562-E4E3-4EF8-8622-64FE959FB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Partial Dependence Plots</a:t>
            </a:r>
            <a:r>
              <a:rPr lang="en-US" dirty="0"/>
              <a:t> “</a:t>
            </a:r>
            <a:r>
              <a:rPr lang="en-US" sz="4400" dirty="0"/>
              <a:t>show the marginal effect of 1 or 2 inputs on the predicted outputs”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8DAFF4-C77D-4AC1-9742-66B92D808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EABDF0-77C0-4311-9C2D-1A64A875D52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542" r="3436" b="5547"/>
          <a:stretch/>
        </p:blipFill>
        <p:spPr>
          <a:xfrm>
            <a:off x="1232332" y="2368195"/>
            <a:ext cx="10954251" cy="4489805"/>
          </a:xfrm>
          <a:prstGeom prst="rect">
            <a:avLst/>
          </a:prstGeom>
        </p:spPr>
      </p:pic>
      <p:pic>
        <p:nvPicPr>
          <p:cNvPr id="7" name="Picture 6" descr="Icon&#10;&#10;Description automatically generated with medium confidence">
            <a:extLst>
              <a:ext uri="{FF2B5EF4-FFF2-40B4-BE49-F238E27FC236}">
                <a16:creationId xmlns:a16="http://schemas.microsoft.com/office/drawing/2014/main" id="{5A50D59F-337C-4D21-B38D-9BA11E7E47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02" y="6016762"/>
            <a:ext cx="835773" cy="844131"/>
          </a:xfrm>
          <a:prstGeom prst="rect">
            <a:avLst/>
          </a:prstGeom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98D18873-54EA-4956-957F-5F89BEF5A0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8613"/>
            <a:ext cx="1226917" cy="66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4500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01132-71BD-4F1B-9293-549BD3322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1042633"/>
            <a:ext cx="12192000" cy="1094512"/>
          </a:xfrm>
        </p:spPr>
        <p:txBody>
          <a:bodyPr>
            <a:normAutofit fontScale="90000"/>
          </a:bodyPr>
          <a:lstStyle/>
          <a:p>
            <a:r>
              <a:rPr lang="en-US" dirty="0"/>
              <a:t>5 weeks ago = General case: Artificial Neural Networks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C3A21F-26E9-43FB-99DD-70B7693C1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13</a:t>
            </a:fld>
            <a:endParaRPr lang="en-US"/>
          </a:p>
        </p:txBody>
      </p:sp>
      <p:pic>
        <p:nvPicPr>
          <p:cNvPr id="4" name="Picture 3" descr="\documentclass{article}&#10;\usepackage{amsmath,xcolor}&#10;\pagestyle{empty}&#10;\begin{document}&#10;&#10;$&#10;\textcolor{white}{\textcolor[rgb]{0.2,0.553,0.788}{\mathrm{Output}}&#10;=\textcolor[rgb]{0.69,0.83,0.92}{{\phi}_{\mathrm{top}}}\!\left(&#10;\textcolor[rgb]{0.97,0.58,0.12}{W_{\mathrm{top}}}\,&#10;\textcolor[rgb]{0.5,0.5,0.5}{\mathrm{Hidden}}&#10;+\textcolor[rgb]{0.97,0.58,0.12}{b_{\mathrm{top}}}&#10;\right)}&#10;$&#10;&#10;\end{document}&#10;" title="IguanaTex Bitmap Display">
            <a:extLst>
              <a:ext uri="{FF2B5EF4-FFF2-40B4-BE49-F238E27FC236}">
                <a16:creationId xmlns:a16="http://schemas.microsoft.com/office/drawing/2014/main" id="{0BA8112E-0862-D482-A9E8-1B3069615F8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1082" y="2931122"/>
            <a:ext cx="6375323" cy="444235"/>
          </a:xfrm>
          <a:prstGeom prst="rect">
            <a:avLst/>
          </a:prstGeom>
        </p:spPr>
      </p:pic>
      <p:pic>
        <p:nvPicPr>
          <p:cNvPr id="7" name="Picture 6" descr="\documentclass{article}&#10;\usepackage{amsmath,xcolor}&#10;\pagestyle{empty}&#10;\begin{document}&#10;&#10;$&#10;\textcolor{white}{\textcolor[rgb]{0.5,0.5,0.5}{\mathrm{Hidden}}&#10;=\textcolor[rgb]{0.69,0.83,0.92}{{\phi}_{\mathrm{bottom}}}\!\left(&#10;\textcolor[rgb]{0.97,0.58,0.12}{W_{\mathrm{bottom}}}&#10;\textcolor[rgb]{0,0.57,0.27}{\mathrm{Input}}&#10;+\textcolor[rgb]{0.97,0.58,0.12}{b_{\mathrm{bottom}}}&#10;\right)}&#10;$&#10;&#10;\end{document}&#10;" title="IguanaTex Bitmap Display">
            <a:extLst>
              <a:ext uri="{FF2B5EF4-FFF2-40B4-BE49-F238E27FC236}">
                <a16:creationId xmlns:a16="http://schemas.microsoft.com/office/drawing/2014/main" id="{2B8C56D5-C6D1-F670-AFA9-3C748BAE84A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4644" y="4425033"/>
            <a:ext cx="6400818" cy="349054"/>
          </a:xfrm>
          <a:prstGeom prst="rect">
            <a:avLst/>
          </a:prstGeom>
        </p:spPr>
      </p:pic>
      <p:pic>
        <p:nvPicPr>
          <p:cNvPr id="9" name="Picture 8" descr="A diagram of a machine&#10;&#10;AI-generated content may be incorrect.">
            <a:extLst>
              <a:ext uri="{FF2B5EF4-FFF2-40B4-BE49-F238E27FC236}">
                <a16:creationId xmlns:a16="http://schemas.microsoft.com/office/drawing/2014/main" id="{92E215D1-3C4A-CB33-2BDA-3CBD601C44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37145"/>
            <a:ext cx="5407333" cy="4720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2158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03AAF-42BB-493C-8862-25F7108DD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1042633"/>
            <a:ext cx="12192000" cy="935024"/>
          </a:xfrm>
        </p:spPr>
        <p:txBody>
          <a:bodyPr>
            <a:normAutofit fontScale="90000"/>
          </a:bodyPr>
          <a:lstStyle/>
          <a:p>
            <a:r>
              <a:rPr lang="en-US" dirty="0"/>
              <a:t>4 weeks ago = Convolutional Neural Networks (CNNs)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3486EF-6A35-45FF-8576-343345999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4" descr="A picture containing diagram&#10;&#10;Description automatically generated">
            <a:extLst>
              <a:ext uri="{FF2B5EF4-FFF2-40B4-BE49-F238E27FC236}">
                <a16:creationId xmlns:a16="http://schemas.microsoft.com/office/drawing/2014/main" id="{F8CA57E7-83C4-47B2-9207-D9F9ED044E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2661006"/>
            <a:ext cx="5749007" cy="4196994"/>
          </a:xfrm>
          <a:prstGeom prst="rect">
            <a:avLst/>
          </a:prstGeom>
        </p:spPr>
      </p:pic>
      <p:pic>
        <p:nvPicPr>
          <p:cNvPr id="7" name="Picture 6" descr="Diagram, engineering drawing&#10;&#10;Description automatically generated">
            <a:extLst>
              <a:ext uri="{FF2B5EF4-FFF2-40B4-BE49-F238E27FC236}">
                <a16:creationId xmlns:a16="http://schemas.microsoft.com/office/drawing/2014/main" id="{F470C93F-6F12-4500-9209-A6506C24C2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046" y="1041864"/>
            <a:ext cx="6814252" cy="68268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C1844D-A9CF-4CE1-9035-8828BCFF2F1C}"/>
              </a:ext>
            </a:extLst>
          </p:cNvPr>
          <p:cNvSpPr txBox="1"/>
          <p:nvPr/>
        </p:nvSpPr>
        <p:spPr>
          <a:xfrm>
            <a:off x="5747676" y="6488668"/>
            <a:ext cx="6442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i="1" u="sng" dirty="0"/>
              <a:t>Source</a:t>
            </a:r>
            <a:r>
              <a:rPr lang="en-US" i="1" dirty="0"/>
              <a:t>: </a:t>
            </a:r>
            <a:r>
              <a:rPr lang="en-US" i="1" dirty="0" err="1"/>
              <a:t>Giphy</a:t>
            </a:r>
            <a:r>
              <a:rPr lang="en-US" i="1" dirty="0"/>
              <a:t>, Analytics India Magazine (K. </a:t>
            </a:r>
            <a:r>
              <a:rPr lang="en-US" i="1" dirty="0" err="1"/>
              <a:t>Maladkar</a:t>
            </a:r>
            <a:r>
              <a:rPr lang="en-US" i="1" dirty="0"/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33ACAD-0B26-4C45-BE75-EAD42C4BE6F9}"/>
              </a:ext>
            </a:extLst>
          </p:cNvPr>
          <p:cNvSpPr txBox="1"/>
          <p:nvPr/>
        </p:nvSpPr>
        <p:spPr>
          <a:xfrm>
            <a:off x="-1" y="1871330"/>
            <a:ext cx="121906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Regularized versions of Artificial Neural Networks used to process images</a:t>
            </a:r>
          </a:p>
        </p:txBody>
      </p:sp>
    </p:spTree>
    <p:extLst>
      <p:ext uri="{BB962C8B-B14F-4D97-AF65-F5344CB8AC3E}">
        <p14:creationId xmlns:p14="http://schemas.microsoft.com/office/powerpoint/2010/main" val="39899196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5D8E2F-C134-4967-811C-45E56638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15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EA5239-E30C-4474-AD7E-C92DA41A0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7774" y="1030692"/>
            <a:ext cx="8624226" cy="44007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ABA1E2-0210-4C82-AF84-EC7358B13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814" y="1030692"/>
            <a:ext cx="3594587" cy="58273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897E3F0-2185-43ED-A388-DC2661BA2995}"/>
              </a:ext>
            </a:extLst>
          </p:cNvPr>
          <p:cNvSpPr txBox="1"/>
          <p:nvPr/>
        </p:nvSpPr>
        <p:spPr>
          <a:xfrm>
            <a:off x="5747676" y="6488668"/>
            <a:ext cx="6442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i="1" u="sng" dirty="0"/>
              <a:t>Source</a:t>
            </a:r>
            <a:r>
              <a:rPr lang="en-US" i="1" dirty="0"/>
              <a:t>: Zhu et al. (2017), Prabhat et al. (2020)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D0DA4D-1068-460D-8035-9B53916AE7E5}"/>
              </a:ext>
            </a:extLst>
          </p:cNvPr>
          <p:cNvSpPr txBox="1"/>
          <p:nvPr/>
        </p:nvSpPr>
        <p:spPr>
          <a:xfrm>
            <a:off x="3567773" y="5431465"/>
            <a:ext cx="29712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000" dirty="0"/>
              <a:t>Object Detection for Remote Sensing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9BBAE5-84E4-4E48-8C0A-F90066BD46BD}"/>
              </a:ext>
            </a:extLst>
          </p:cNvPr>
          <p:cNvSpPr txBox="1"/>
          <p:nvPr/>
        </p:nvSpPr>
        <p:spPr>
          <a:xfrm>
            <a:off x="7165904" y="5380672"/>
            <a:ext cx="50247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Instance Segmentation for Storm Detection</a:t>
            </a:r>
          </a:p>
        </p:txBody>
      </p:sp>
    </p:spTree>
    <p:extLst>
      <p:ext uri="{BB962C8B-B14F-4D97-AF65-F5344CB8AC3E}">
        <p14:creationId xmlns:p14="http://schemas.microsoft.com/office/powerpoint/2010/main" val="1206459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728CEB-0C44-48E2-B144-857915C0C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26ADA2-49E6-49DE-96FE-2484087C4BB0}"/>
              </a:ext>
            </a:extLst>
          </p:cNvPr>
          <p:cNvSpPr txBox="1"/>
          <p:nvPr/>
        </p:nvSpPr>
        <p:spPr>
          <a:xfrm>
            <a:off x="1830" y="1134750"/>
            <a:ext cx="121901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j-lt"/>
              </a:rPr>
              <a:t>Saliency Map</a:t>
            </a:r>
            <a:r>
              <a:rPr lang="en-US" sz="3600" dirty="0">
                <a:latin typeface="+mj-lt"/>
              </a:rPr>
              <a:t> = Squared Jacobian of the emulated mapping</a:t>
            </a:r>
          </a:p>
        </p:txBody>
      </p:sp>
      <p:pic>
        <p:nvPicPr>
          <p:cNvPr id="13" name="Picture 12" descr="A close up of a bird&#10;&#10;Description automatically generated">
            <a:extLst>
              <a:ext uri="{FF2B5EF4-FFF2-40B4-BE49-F238E27FC236}">
                <a16:creationId xmlns:a16="http://schemas.microsoft.com/office/drawing/2014/main" id="{7A643FA2-BF64-44DD-B885-30D1EFC7C9B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601"/>
          <a:stretch/>
        </p:blipFill>
        <p:spPr>
          <a:xfrm>
            <a:off x="1" y="3377999"/>
            <a:ext cx="12191999" cy="311067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09430A7-4F23-4EC5-9A43-C01B1B8BF2B0}"/>
              </a:ext>
            </a:extLst>
          </p:cNvPr>
          <p:cNvSpPr/>
          <p:nvPr/>
        </p:nvSpPr>
        <p:spPr>
          <a:xfrm>
            <a:off x="1524000" y="6488668"/>
            <a:ext cx="10668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i="1" u="sng" dirty="0"/>
              <a:t>Image source:</a:t>
            </a:r>
            <a:r>
              <a:rPr lang="en-US" i="1" dirty="0"/>
              <a:t> </a:t>
            </a:r>
            <a:r>
              <a:rPr lang="en-US" i="1" dirty="0" err="1"/>
              <a:t>flashtorch</a:t>
            </a:r>
            <a:r>
              <a:rPr lang="en-US" i="1" dirty="0"/>
              <a:t> (</a:t>
            </a:r>
            <a:r>
              <a:rPr lang="en-US" i="1" dirty="0" err="1"/>
              <a:t>Github</a:t>
            </a:r>
            <a:r>
              <a:rPr lang="en-US" i="1" dirty="0"/>
              <a:t>) </a:t>
            </a:r>
            <a:r>
              <a:rPr lang="en-US" i="1" u="sng" dirty="0"/>
              <a:t>See</a:t>
            </a:r>
            <a:r>
              <a:rPr lang="en-US" i="1" dirty="0"/>
              <a:t>: </a:t>
            </a:r>
            <a:r>
              <a:rPr lang="en-US" i="1" dirty="0" err="1"/>
              <a:t>Paszke</a:t>
            </a:r>
            <a:r>
              <a:rPr lang="en-US" i="1" dirty="0"/>
              <a:t> et al. (2017), </a:t>
            </a:r>
            <a:r>
              <a:rPr lang="en-US" i="1" dirty="0" err="1"/>
              <a:t>Springenbert</a:t>
            </a:r>
            <a:r>
              <a:rPr lang="en-US" i="1" dirty="0"/>
              <a:t> et al. (2015)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3D50F09-4384-4289-9BF7-F534AF7EEC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3360" y="1906203"/>
            <a:ext cx="4112575" cy="125908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ED5C02E-B4CA-4E05-A941-36FAB4866D43}"/>
              </a:ext>
            </a:extLst>
          </p:cNvPr>
          <p:cNvSpPr/>
          <p:nvPr/>
        </p:nvSpPr>
        <p:spPr>
          <a:xfrm>
            <a:off x="0" y="2146894"/>
            <a:ext cx="746943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500" dirty="0"/>
              <a:t>Deep learning libraries efficiently calculate Jacobian via automatic differentiation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2E29BA-2F9D-4A0D-BB29-426A9914A1E7}"/>
              </a:ext>
            </a:extLst>
          </p:cNvPr>
          <p:cNvSpPr/>
          <p:nvPr/>
        </p:nvSpPr>
        <p:spPr>
          <a:xfrm>
            <a:off x="10942321" y="2722880"/>
            <a:ext cx="965200" cy="3657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3772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3481EC3-DB74-BB2C-51A7-9F358DCFB4AB}"/>
              </a:ext>
            </a:extLst>
          </p:cNvPr>
          <p:cNvSpPr/>
          <p:nvPr/>
        </p:nvSpPr>
        <p:spPr>
          <a:xfrm>
            <a:off x="0" y="2122715"/>
            <a:ext cx="12192000" cy="473528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32DBC3-E043-6798-D5CC-93205AFE0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1042633"/>
            <a:ext cx="12192000" cy="1080082"/>
          </a:xfrm>
        </p:spPr>
        <p:txBody>
          <a:bodyPr>
            <a:normAutofit fontScale="90000"/>
          </a:bodyPr>
          <a:lstStyle/>
          <a:p>
            <a:r>
              <a:rPr lang="en-US" dirty="0"/>
              <a:t>Next lab: SHAP </a:t>
            </a:r>
            <a:r>
              <a:rPr lang="en-US" dirty="0" err="1"/>
              <a:t>DeepExplainer</a:t>
            </a:r>
            <a:br>
              <a:rPr lang="en-US" dirty="0"/>
            </a:br>
            <a:r>
              <a:rPr lang="en-US" dirty="0"/>
              <a:t>For a global explanation, average |SHAP values|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28585B-66CB-BD36-C5B4-BB0A849A5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17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6231946-D8B1-F87F-6082-1325569DB4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" y="2482850"/>
            <a:ext cx="12192000" cy="437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57273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tree, outdoor, sky, lush&#10;&#10;Description automatically generated">
            <a:extLst>
              <a:ext uri="{FF2B5EF4-FFF2-40B4-BE49-F238E27FC236}">
                <a16:creationId xmlns:a16="http://schemas.microsoft.com/office/drawing/2014/main" id="{93BAAFDB-50B7-4E78-AD89-329B4A3EDB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5269" y="3614850"/>
            <a:ext cx="4837053" cy="32431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7557CCE-FCA5-4EA9-84D7-D1726F5738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Min 60-75: Break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7B5D72-1FCE-4876-B2D9-9D757C5C9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 descr="A picture containing table, cup, sitting, indoor&#10;&#10;Description automatically generated">
            <a:extLst>
              <a:ext uri="{FF2B5EF4-FFF2-40B4-BE49-F238E27FC236}">
                <a16:creationId xmlns:a16="http://schemas.microsoft.com/office/drawing/2014/main" id="{7D264572-6C9E-4B6C-95B4-03276295BAC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62" b="27556"/>
          <a:stretch/>
        </p:blipFill>
        <p:spPr>
          <a:xfrm>
            <a:off x="21351" y="3614850"/>
            <a:ext cx="3768329" cy="3243150"/>
          </a:xfrm>
          <a:prstGeom prst="rect">
            <a:avLst/>
          </a:prstGeom>
        </p:spPr>
      </p:pic>
      <p:pic>
        <p:nvPicPr>
          <p:cNvPr id="8" name="Picture 7" descr="A pile of green and red apples&#10;&#10;Description automatically generated with low confidence">
            <a:extLst>
              <a:ext uri="{FF2B5EF4-FFF2-40B4-BE49-F238E27FC236}">
                <a16:creationId xmlns:a16="http://schemas.microsoft.com/office/drawing/2014/main" id="{18CB289A-2A53-4076-A274-ECB92EF00A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7799" y="3614850"/>
            <a:ext cx="4324201" cy="324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3656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21CF-F50A-FB96-940B-8139DE075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09740"/>
            <a:ext cx="12192000" cy="2852737"/>
          </a:xfrm>
        </p:spPr>
        <p:txBody>
          <a:bodyPr/>
          <a:lstStyle/>
          <a:p>
            <a:r>
              <a:rPr lang="en-US" dirty="0"/>
              <a:t>Logistics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ED259-25E1-1DA5-2A69-05A4AF0F1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686A01-FA10-4E06-92C7-92734750F4C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MU Sans Serif"/>
              <a:ea typeface="+mn-ea"/>
              <a:cs typeface="+mn-c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918207-CA06-41F4-36E0-2E69E558B8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605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8EE425-A67E-5D5B-DF0F-71407E3CD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Workload distribution 5 ECTS ~10-15 Hours/week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045239B-7353-CD5D-C23E-407EC572F7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5955891"/>
              </p:ext>
            </p:extLst>
          </p:nvPr>
        </p:nvGraphicFramePr>
        <p:xfrm>
          <a:off x="643467" y="1808615"/>
          <a:ext cx="10905068" cy="3680547"/>
        </p:xfrm>
        <a:graphic>
          <a:graphicData uri="http://schemas.openxmlformats.org/drawingml/2006/table">
            <a:tbl>
              <a:tblPr firstRow="1" bandRow="1"/>
              <a:tblGrid>
                <a:gridCol w="3322909">
                  <a:extLst>
                    <a:ext uri="{9D8B030D-6E8A-4147-A177-3AD203B41FA5}">
                      <a16:colId xmlns:a16="http://schemas.microsoft.com/office/drawing/2014/main" val="2243646414"/>
                    </a:ext>
                  </a:extLst>
                </a:gridCol>
                <a:gridCol w="3035487">
                  <a:extLst>
                    <a:ext uri="{9D8B030D-6E8A-4147-A177-3AD203B41FA5}">
                      <a16:colId xmlns:a16="http://schemas.microsoft.com/office/drawing/2014/main" val="1277909989"/>
                    </a:ext>
                  </a:extLst>
                </a:gridCol>
                <a:gridCol w="4546672">
                  <a:extLst>
                    <a:ext uri="{9D8B030D-6E8A-4147-A177-3AD203B41FA5}">
                      <a16:colId xmlns:a16="http://schemas.microsoft.com/office/drawing/2014/main" val="1901002483"/>
                    </a:ext>
                  </a:extLst>
                </a:gridCol>
              </a:tblGrid>
              <a:tr h="4643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Activity</a:t>
                      </a:r>
                      <a:endParaRPr lang="en-US" sz="1800" dirty="0">
                        <a:effectLst/>
                        <a:latin typeface="Helvetica" pitchFamily="2" charset="0"/>
                      </a:endParaRPr>
                    </a:p>
                  </a:txBody>
                  <a:tcPr marL="46264" marR="46264" marT="46264" marB="462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Estimated Workload</a:t>
                      </a:r>
                      <a:endParaRPr lang="en-US" sz="1800" dirty="0">
                        <a:effectLst/>
                        <a:latin typeface="Helvetica" pitchFamily="2" charset="0"/>
                      </a:endParaRPr>
                    </a:p>
                  </a:txBody>
                  <a:tcPr marL="46264" marR="46264" marT="46264" marB="462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NEXT WEEK</a:t>
                      </a:r>
                      <a:endParaRPr lang="en-US" sz="1800">
                        <a:effectLst/>
                        <a:latin typeface="Helvetica" pitchFamily="2" charset="0"/>
                      </a:endParaRPr>
                    </a:p>
                  </a:txBody>
                  <a:tcPr marL="46264" marR="46264" marT="46264" marB="46264" anchor="ctr">
                    <a:lnL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2684864"/>
                  </a:ext>
                </a:extLst>
              </a:tr>
              <a:tr h="7307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Environmental Reading </a:t>
                      </a:r>
                      <a:b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</a:b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+ Check out activities</a:t>
                      </a:r>
                    </a:p>
                  </a:txBody>
                  <a:tcPr marL="46264" marR="46264" marT="46264" marB="462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F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1-2 hours</a:t>
                      </a:r>
                    </a:p>
                  </a:txBody>
                  <a:tcPr marL="46264" marR="46264" marT="46264" marB="462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F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+mn-ea"/>
                          <a:cs typeface="+mn-cs"/>
                        </a:rPr>
                        <a:t>Gagne et al., 2019 (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+mn-ea"/>
                          <a:cs typeface="+mn-cs"/>
                        </a:rPr>
                        <a:t>xAI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46264" marR="46264" marT="46264" marB="46264" anchor="ctr">
                    <a:lnL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3301542"/>
                  </a:ext>
                </a:extLst>
              </a:tr>
              <a:tr h="5115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“Theory” Reading</a:t>
                      </a:r>
                      <a:endParaRPr lang="en-US" sz="1800" dirty="0">
                        <a:effectLst/>
                        <a:latin typeface="Helvetica" pitchFamily="2" charset="0"/>
                      </a:endParaRPr>
                    </a:p>
                  </a:txBody>
                  <a:tcPr marL="46264" marR="46264" marT="46264" marB="462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2-3 hours</a:t>
                      </a:r>
                      <a:endParaRPr lang="en-US" sz="1800" dirty="0">
                        <a:effectLst/>
                        <a:latin typeface="Helvetica" pitchFamily="2" charset="0"/>
                      </a:endParaRPr>
                    </a:p>
                  </a:txBody>
                  <a:tcPr marL="46264" marR="46264" marT="46264" marB="462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+mn-ea"/>
                          <a:cs typeface="+mn-cs"/>
                        </a:rPr>
                        <a:t>Molnar (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+mn-ea"/>
                          <a:cs typeface="+mn-cs"/>
                        </a:rPr>
                        <a:t>xAI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+mn-ea"/>
                          <a:cs typeface="+mn-cs"/>
                        </a:rPr>
                        <a:t>)</a:t>
                      </a:r>
                      <a:b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+mn-ea"/>
                          <a:cs typeface="+mn-cs"/>
                        </a:rPr>
                      </a:br>
                      <a:r>
                        <a:rPr lang="en-US" sz="1800" u="sng" kern="12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+mn-ea"/>
                          <a:cs typeface="+mn-cs"/>
                        </a:rPr>
                        <a:t>If early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+mn-ea"/>
                          <a:cs typeface="+mn-cs"/>
                        </a:rPr>
                        <a:t>Géron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+mn-ea"/>
                          <a:cs typeface="+mn-cs"/>
                        </a:rPr>
                        <a:t> Ch. 17 (Gen AI)</a:t>
                      </a:r>
                    </a:p>
                  </a:txBody>
                  <a:tcPr marL="46264" marR="46264" marT="46264" marB="46264" anchor="ctr">
                    <a:lnL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5270403"/>
                  </a:ext>
                </a:extLst>
              </a:tr>
              <a:tr h="4643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Next Week’s In-Person Class</a:t>
                      </a:r>
                      <a:endParaRPr lang="en-US" sz="1800" dirty="0">
                        <a:effectLst/>
                        <a:latin typeface="Helvetica" pitchFamily="2" charset="0"/>
                      </a:endParaRPr>
                    </a:p>
                  </a:txBody>
                  <a:tcPr marL="46264" marR="46264" marT="46264" marB="462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F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4 hours</a:t>
                      </a:r>
                      <a:endParaRPr lang="en-US" sz="1800" dirty="0">
                        <a:effectLst/>
                        <a:latin typeface="Helvetica" pitchFamily="2" charset="0"/>
                      </a:endParaRPr>
                    </a:p>
                  </a:txBody>
                  <a:tcPr marL="46264" marR="46264" marT="46264" marB="462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F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Helvetica" pitchFamily="2" charset="0"/>
                        </a:rPr>
                        <a:t>Generative Modelling</a:t>
                      </a:r>
                    </a:p>
                  </a:txBody>
                  <a:tcPr marL="46264" marR="46264" marT="46264" marB="46264" anchor="ctr">
                    <a:lnL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336586"/>
                  </a:ext>
                </a:extLst>
              </a:tr>
              <a:tr h="81679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Notebooks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⬇️ 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(Lab tomorrow)</a:t>
                      </a:r>
                      <a:endParaRPr lang="en-US" sz="1800" b="0" dirty="0">
                        <a:effectLst/>
                        <a:latin typeface="Helvetica" pitchFamily="2" charset="0"/>
                      </a:endParaRPr>
                    </a:p>
                  </a:txBody>
                  <a:tcPr marL="46264" marR="46264" marT="46264" marB="462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1-2 hours</a:t>
                      </a:r>
                      <a:endParaRPr lang="en-US" sz="1800" dirty="0">
                        <a:effectLst/>
                        <a:latin typeface="Helvetica" pitchFamily="2" charset="0"/>
                      </a:endParaRPr>
                    </a:p>
                  </a:txBody>
                  <a:tcPr marL="46264" marR="46264" marT="46264" marB="462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Helvetica" pitchFamily="2" charset="0"/>
                        </a:rPr>
                        <a:t>All e-book Chapter 9 exercises</a:t>
                      </a:r>
                      <a:br>
                        <a:rPr lang="en-US" sz="1800" dirty="0">
                          <a:effectLst/>
                          <a:latin typeface="Helvetica" pitchFamily="2" charset="0"/>
                        </a:rPr>
                      </a:br>
                      <a:endParaRPr lang="en-US" sz="1800" dirty="0">
                        <a:effectLst/>
                        <a:latin typeface="Helvetica" pitchFamily="2" charset="0"/>
                      </a:endParaRPr>
                    </a:p>
                  </a:txBody>
                  <a:tcPr marL="46264" marR="46264" marT="46264" marB="46264" anchor="ctr">
                    <a:lnL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2100675"/>
                  </a:ext>
                </a:extLst>
              </a:tr>
              <a:tr h="4643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Final Project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⬆️ 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(Lab)</a:t>
                      </a:r>
                      <a:endParaRPr lang="en-US" sz="1800" b="0" dirty="0">
                        <a:effectLst/>
                        <a:latin typeface="Helvetica" pitchFamily="2" charset="0"/>
                      </a:endParaRPr>
                    </a:p>
                  </a:txBody>
                  <a:tcPr marL="46264" marR="46264" marT="46264" marB="462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F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3-4 hours</a:t>
                      </a:r>
                      <a:endParaRPr lang="en-US" sz="1800" dirty="0">
                        <a:effectLst/>
                        <a:latin typeface="Helvetica" pitchFamily="2" charset="0"/>
                      </a:endParaRPr>
                    </a:p>
                  </a:txBody>
                  <a:tcPr marL="46264" marR="46264" marT="46264" marB="462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F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Work on final project</a:t>
                      </a:r>
                      <a:endParaRPr lang="en-US" sz="1800" dirty="0">
                        <a:effectLst/>
                        <a:latin typeface="Helvetica" pitchFamily="2" charset="0"/>
                      </a:endParaRPr>
                    </a:p>
                  </a:txBody>
                  <a:tcPr marL="46264" marR="46264" marT="46264" marB="46264" anchor="ctr">
                    <a:lnL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E6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0528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99860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7681C-21F3-F0A0-64C8-2C1F21CDC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1042633"/>
            <a:ext cx="12192000" cy="923820"/>
          </a:xfrm>
        </p:spPr>
        <p:txBody>
          <a:bodyPr>
            <a:normAutofit fontScale="90000"/>
          </a:bodyPr>
          <a:lstStyle/>
          <a:p>
            <a:r>
              <a:rPr lang="en-US" dirty="0"/>
              <a:t>Notebooks: All “theory” + 1 “environmental application”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59E5C6-0C02-43D5-728D-C4EC8E8C6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686A01-FA10-4E06-92C7-92734750F4C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MU Sans Serif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3FFD529-9C51-07BA-92DD-0C6E1FF9C80B}"/>
              </a:ext>
            </a:extLst>
          </p:cNvPr>
          <p:cNvCxnSpPr/>
          <p:nvPr/>
        </p:nvCxnSpPr>
        <p:spPr>
          <a:xfrm>
            <a:off x="-2" y="2713703"/>
            <a:ext cx="1219200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52EC95F-E964-8DFB-E9B5-732B0CD95B14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6095998" y="1966453"/>
            <a:ext cx="0" cy="546673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1550D9F-0A32-B172-2839-2BBCA215F7AD}"/>
              </a:ext>
            </a:extLst>
          </p:cNvPr>
          <p:cNvSpPr txBox="1"/>
          <p:nvPr/>
        </p:nvSpPr>
        <p:spPr>
          <a:xfrm>
            <a:off x="0" y="2063079"/>
            <a:ext cx="609599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Theory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DC3FC2-94D6-D04D-597C-A83F4314CB71}"/>
              </a:ext>
            </a:extLst>
          </p:cNvPr>
          <p:cNvSpPr txBox="1"/>
          <p:nvPr/>
        </p:nvSpPr>
        <p:spPr>
          <a:xfrm>
            <a:off x="6095998" y="2063079"/>
            <a:ext cx="6096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Environmental Applications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69EECD-7161-E938-3970-597B12054FAF}"/>
              </a:ext>
            </a:extLst>
          </p:cNvPr>
          <p:cNvSpPr txBox="1"/>
          <p:nvPr/>
        </p:nvSpPr>
        <p:spPr>
          <a:xfrm>
            <a:off x="-2" y="2713703"/>
            <a:ext cx="609599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CNN: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6.2 (Computer vision)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MU Sans Serif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RNN: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7.3 (Composing music)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MU Sans Serif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XAI: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 9.2 (XAI on simple datasets)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MU Sans Serif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Gen ML: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 10.1 (UQ) + 10.2 (Gen NNs)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80F1E5-C94B-164A-A0B4-85AB62851665}"/>
              </a:ext>
            </a:extLst>
          </p:cNvPr>
          <p:cNvSpPr txBox="1"/>
          <p:nvPr/>
        </p:nvSpPr>
        <p:spPr>
          <a:xfrm>
            <a:off x="6095991" y="2731673"/>
            <a:ext cx="609599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Choose one of the following: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MU Sans Serif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CNN: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6.3 (Land cover classification)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RNN: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7.4 (Hydrological modeling)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GNN: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 8.3 (Neural weather pred.)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GenML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: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 10.3* (Climate downscaling)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Hybrid: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11.2 (Glacier modeling)</a:t>
            </a:r>
          </a:p>
        </p:txBody>
      </p:sp>
    </p:spTree>
    <p:extLst>
      <p:ext uri="{BB962C8B-B14F-4D97-AF65-F5344CB8AC3E}">
        <p14:creationId xmlns:p14="http://schemas.microsoft.com/office/powerpoint/2010/main" val="233318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754A5-12DF-5362-CC5C-C2258A535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Mid-term Presentations: Thursday, </a:t>
            </a:r>
            <a:r>
              <a:rPr lang="en-US" b="1" dirty="0"/>
              <a:t>Nov 13</a:t>
            </a:r>
            <a:r>
              <a:rPr lang="en-US" b="1" baseline="30000" dirty="0"/>
              <a:t>th</a:t>
            </a:r>
            <a:r>
              <a:rPr lang="en-US" b="1" dirty="0"/>
              <a:t> </a:t>
            </a:r>
            <a:r>
              <a:rPr lang="en-US" dirty="0"/>
              <a:t>in </a:t>
            </a:r>
            <a:r>
              <a:rPr lang="en-US" b="1" dirty="0"/>
              <a:t>GEO 2113</a:t>
            </a:r>
            <a:br>
              <a:rPr lang="en-US" dirty="0"/>
            </a:br>
            <a:r>
              <a:rPr lang="en-US" dirty="0"/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FFDBB9-C135-880A-6131-E48B54C1E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686A01-FA10-4E06-92C7-92734750F4C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MU Sans Serif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DA164C-A84E-7234-CBA9-8B2D19A804F4}"/>
              </a:ext>
            </a:extLst>
          </p:cNvPr>
          <p:cNvSpPr txBox="1"/>
          <p:nvPr/>
        </p:nvSpPr>
        <p:spPr>
          <a:xfrm>
            <a:off x="0" y="3538490"/>
            <a:ext cx="121920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4min presentations + 6min Q&amp;A/feedback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MU Sans Serif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Tip = 1 slide/minute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Scientific question: What’s our goal and why do we care?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Dataset: Characteristics, challenges, training/validation/test split, etc.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Methodology: Which ML algorithm(s) are you planning to use and why?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Results: What are your initial results &amp; what do you plan to do next?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DCA518-1F95-6BA4-D78F-E477D1C97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6415"/>
            <a:ext cx="12192000" cy="693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8551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60103-44B2-D22B-A87A-6D018D01D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(For students taking this course for credits)</a:t>
            </a:r>
            <a:br>
              <a:rPr lang="en-US" dirty="0"/>
            </a:br>
            <a:r>
              <a:rPr lang="en-US" dirty="0"/>
              <a:t>Second oral evaluation: Dec 3</a:t>
            </a:r>
            <a:r>
              <a:rPr lang="en-US" baseline="30000" dirty="0"/>
              <a:t>rd</a:t>
            </a:r>
            <a:r>
              <a:rPr lang="en-US" dirty="0"/>
              <a:t> &amp; 4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5C2A36-30AA-E208-3BBA-5585F09AC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686A01-FA10-4E06-92C7-92734750F4C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MU Sans Serif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E34D19-CFCA-76BF-9590-2DFDE17F6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2441902"/>
            <a:ext cx="12192000" cy="4095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031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0E816-71E6-4789-81A4-C7C5659E7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1042633"/>
            <a:ext cx="12192000" cy="983018"/>
          </a:xfrm>
        </p:spPr>
        <p:txBody>
          <a:bodyPr>
            <a:normAutofit/>
          </a:bodyPr>
          <a:lstStyle/>
          <a:p>
            <a:r>
              <a:rPr lang="en-US" dirty="0"/>
              <a:t>In-class Peer Review: Wednesday, Dec 10</a:t>
            </a:r>
            <a:r>
              <a:rPr lang="en-US" baseline="30000" dirty="0"/>
              <a:t>th</a:t>
            </a:r>
            <a:r>
              <a:rPr lang="en-US" dirty="0"/>
              <a:t>, 12-2PM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4E4BB1-F0A7-450A-9EFA-9C5C6FC08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686A01-FA10-4E06-92C7-92734750F4C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MU Sans Serif"/>
              <a:ea typeface="+mn-ea"/>
              <a:cs typeface="+mn-c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5EB457D-0278-4721-9A27-E528E0D68D50}"/>
              </a:ext>
            </a:extLst>
          </p:cNvPr>
          <p:cNvSpPr txBox="1">
            <a:spLocks/>
          </p:cNvSpPr>
          <p:nvPr/>
        </p:nvSpPr>
        <p:spPr>
          <a:xfrm>
            <a:off x="2" y="5874982"/>
            <a:ext cx="12191998" cy="9830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j-ea"/>
                <a:cs typeface="+mj-cs"/>
              </a:rPr>
              <a:t>Submit first draft of your project by December 9</a:t>
            </a:r>
            <a:r>
              <a:rPr kumimoji="0" lang="en-US" sz="4400" b="0" i="0" u="none" strike="noStrike" kern="1200" cap="none" spc="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j-ea"/>
                <a:cs typeface="+mj-cs"/>
              </a:rPr>
              <a:t>th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j-ea"/>
                <a:cs typeface="+mj-cs"/>
              </a:rPr>
              <a:t> 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MU Sans Serif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B54D35-4B90-B2E0-607D-2D56E1FB6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78773"/>
            <a:ext cx="12192000" cy="3343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5219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EBFE36-3B1F-4C2A-9016-337BE4D60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686A01-FA10-4E06-92C7-92734750F4C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MU Sans Serif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1D2398-3FCD-467D-B01C-0199B1A278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9205"/>
          <a:stretch/>
        </p:blipFill>
        <p:spPr>
          <a:xfrm>
            <a:off x="0" y="1031395"/>
            <a:ext cx="12192000" cy="32053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D3D337-BE61-414E-8F0A-94ADC860F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593" y="4236721"/>
            <a:ext cx="4718807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7EFD0BE-0634-41AE-BCAA-B49A49DC6D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452" y="4236721"/>
            <a:ext cx="58261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0134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C6239-8907-4A57-A723-BEEF915D5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Presentations on Dec 11 &amp; Dec 18 in GEO2138</a:t>
            </a:r>
            <a:br>
              <a:rPr lang="en-US" dirty="0"/>
            </a:br>
            <a:r>
              <a:rPr lang="en-US" dirty="0"/>
              <a:t>Registration slots on Moodle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64522C-45E9-48E6-AE64-6016EBEDD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686A01-FA10-4E06-92C7-92734750F4C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MU Sans Serif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8969C6-F13F-402F-AF09-61C8A2FD87D5}"/>
              </a:ext>
            </a:extLst>
          </p:cNvPr>
          <p:cNvSpPr txBox="1"/>
          <p:nvPr/>
        </p:nvSpPr>
        <p:spPr>
          <a:xfrm>
            <a:off x="0" y="3534013"/>
            <a:ext cx="121920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5min presentations + 5min Q&amp;A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MU Sans Serif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Tip = 1-2 slides for each of the following categories: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Scientific question: What’s our goal and why do we care?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Dataset: Characteristics, challenges, training/validation/test split, etc.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Methodology: Which ML algorithm(s) did you choose and why?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Results: What are your findings and how does it answer the sci. question?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47A1B3-EB3C-500C-B964-D5AB176E8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53829"/>
            <a:ext cx="12192000" cy="72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206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,9857"/>
  <p:tag name="ORIGINALWIDTH" val="1154,106"/>
  <p:tag name="LATEXADDIN" val="\documentclass{article}&#10;\usepackage{amsmath,xcolor}&#10;\pagestyle{empty}&#10;\begin{document}&#10;&#10;\textcolor{white}{$y=\beta_0 + \beta_1 x_1 + \beta_2 x_2$} &#10;&#10;&#10;\end{document}"/>
  <p:tag name="IGUANATEXSIZE" val="20"/>
  <p:tag name="IGUANATEXCURSOR" val="14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9,7338"/>
  <p:tag name="ORIGINALWIDTH" val="1902,512"/>
  <p:tag name="OUTPUTTYPE" val="PNG"/>
  <p:tag name="IGUANATEXVERSION" val="160"/>
  <p:tag name="LATEXADDIN" val="\documentclass{article}&#10;\usepackage{amsmath,xcolor}&#10;\pagestyle{empty}&#10;\begin{document}&#10;&#10;$&#10;\textcolor{white}{\textcolor[rgb]{0.2,0.553,0.788}{\mathrm{Output}}&#10;=\textcolor[rgb]{0.69,0.83,0.92}{{\phi}_{\mathrm{top}}}\!\left(&#10;\textcolor[rgb]{0.97,0.58,0.12}{W_{\mathrm{top}}}\,&#10;\textcolor[rgb]{0.5,0.5,0.5}{\mathrm{Hidden}}&#10;+\textcolor[rgb]{0.97,0.58,0.12}{b_{\mathrm{top}}}&#10;\right)}&#10;$&#10;&#10;\end{document}&#10;"/>
  <p:tag name="IGUANATEXSIZE" val="20"/>
  <p:tag name="IGUANATEXCURSOR" val="39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2303,712"/>
  <p:tag name="OUTPUTTYPE" val="PNG"/>
  <p:tag name="IGUANATEXVERSION" val="160"/>
  <p:tag name="LATEXADDIN" val="\documentclass{article}&#10;\usepackage{amsmath,xcolor}&#10;\pagestyle{empty}&#10;\begin{document}&#10;&#10;$&#10;\textcolor{white}{\textcolor[rgb]{0.5,0.5,0.5}{\mathrm{Hidden}}&#10;=\textcolor[rgb]{0.69,0.83,0.92}{{\phi}_{\mathrm{bottom}}}\!\left(&#10;\textcolor[rgb]{0.97,0.58,0.12}{W_{\mathrm{bottom}}}&#10;\textcolor[rgb]{0,0.57,0.27}{\mathrm{Input}}&#10;+\textcolor[rgb]{0.97,0.58,0.12}{b_{\mathrm{bottom}}}&#10;\right)}&#10;$&#10;&#10;\end{document}&#10;"/>
  <p:tag name="IGUANATEXSIZE" val="20"/>
  <p:tag name="IGUANATEXCURSOR" val="40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MU Sans Serif Theme">
      <a:majorFont>
        <a:latin typeface="CMU Sans Serif"/>
        <a:ea typeface=""/>
        <a:cs typeface=""/>
      </a:majorFont>
      <a:minorFont>
        <a:latin typeface="CMU Sans Serif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30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3" id="{D708DCDC-42F7-48A2-975C-30318494E14E}" vid="{5A564382-0E23-4DF5-80A1-3DF436ECACC0}"/>
    </a:ext>
  </a:extLst>
</a:theme>
</file>

<file path=ppt/theme/theme2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MU Sans Serif Theme">
      <a:majorFont>
        <a:latin typeface="CMU Sans Serif"/>
        <a:ea typeface=""/>
        <a:cs typeface=""/>
      </a:majorFont>
      <a:minorFont>
        <a:latin typeface="CMU Sans Serif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30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3" id="{D708DCDC-42F7-48A2-975C-30318494E14E}" vid="{5A564382-0E23-4DF5-80A1-3DF436ECACC0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1257</Words>
  <Application>Microsoft Office PowerPoint</Application>
  <PresentationFormat>Widescreen</PresentationFormat>
  <Paragraphs>187</Paragraphs>
  <Slides>26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26</vt:i4>
      </vt:variant>
    </vt:vector>
  </HeadingPairs>
  <TitlesOfParts>
    <vt:vector size="37" baseType="lpstr">
      <vt:lpstr>Aptos</vt:lpstr>
      <vt:lpstr>Aptos Display</vt:lpstr>
      <vt:lpstr>Arial</vt:lpstr>
      <vt:lpstr>Calibri</vt:lpstr>
      <vt:lpstr>CMU Sans Serif</vt:lpstr>
      <vt:lpstr>Helvetica</vt:lpstr>
      <vt:lpstr>Times New Roman</vt:lpstr>
      <vt:lpstr>Wingdings</vt:lpstr>
      <vt:lpstr>Office Theme</vt:lpstr>
      <vt:lpstr>2_Office Theme</vt:lpstr>
      <vt:lpstr>1_Office Theme</vt:lpstr>
      <vt:lpstr>PowerPoint Presentation</vt:lpstr>
      <vt:lpstr>Min 75-105: Intro to XAI = eXplainable  Artificial Intelligence</vt:lpstr>
      <vt:lpstr>Why bother with XAI?</vt:lpstr>
      <vt:lpstr>Why bother with XAI? Because NNs take shortcuts!</vt:lpstr>
      <vt:lpstr>Interpretability = Degree to which a human can understand the cause of a decision</vt:lpstr>
      <vt:lpstr>Interpretability = Degree to which a human can understand the cause of a decision</vt:lpstr>
      <vt:lpstr>Some algorithms are inherently interpretable</vt:lpstr>
      <vt:lpstr>PowerPoint Presentation</vt:lpstr>
      <vt:lpstr>Permutation feature importance = Increase in prediction error in response to feature permutation</vt:lpstr>
      <vt:lpstr>Model-agnostic versus model-specific explanation Example: Random forests (see final project)</vt:lpstr>
      <vt:lpstr>Model-agnostic versus model-specific explanation Example 2: SHAPley values</vt:lpstr>
      <vt:lpstr>Partial Dependence Plots “show the marginal effect of 1 or 2 inputs on the predicted outputs”</vt:lpstr>
      <vt:lpstr>5 weeks ago = General case: Artificial Neural Networks</vt:lpstr>
      <vt:lpstr>4 weeks ago = Convolutional Neural Networks (CNNs)</vt:lpstr>
      <vt:lpstr>PowerPoint Presentation</vt:lpstr>
      <vt:lpstr>PowerPoint Presentation</vt:lpstr>
      <vt:lpstr>Next lab: SHAP DeepExplainer For a global explanation, average |SHAP values|</vt:lpstr>
      <vt:lpstr>Min 60-75: Break</vt:lpstr>
      <vt:lpstr>Logistics</vt:lpstr>
      <vt:lpstr>Workload distribution 5 ECTS ~10-15 Hours/week</vt:lpstr>
      <vt:lpstr>Notebooks: All “theory” + 1 “environmental application”</vt:lpstr>
      <vt:lpstr>Mid-term Presentations: Thursday, Nov 13th in GEO 2113  </vt:lpstr>
      <vt:lpstr>(For students taking this course for credits) Second oral evaluation: Dec 3rd &amp; 4th </vt:lpstr>
      <vt:lpstr>In-class Peer Review: Wednesday, Dec 10th, 12-2PM</vt:lpstr>
      <vt:lpstr>PowerPoint Presentation</vt:lpstr>
      <vt:lpstr>Final Presentations on Dec 11 &amp; Dec 18 in GEO2138 Registration slots on Moodle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Tom Beucler</dc:creator>
  <cp:lastModifiedBy>Tom Beucler</cp:lastModifiedBy>
  <cp:revision>464</cp:revision>
  <dcterms:created xsi:type="dcterms:W3CDTF">2022-02-23T18:29:24Z</dcterms:created>
  <dcterms:modified xsi:type="dcterms:W3CDTF">2025-11-19T11:45:22Z</dcterms:modified>
</cp:coreProperties>
</file>