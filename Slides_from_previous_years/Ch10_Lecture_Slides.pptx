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686" r:id="rId3"/>
    <p:sldId id="916" r:id="rId4"/>
    <p:sldId id="918" r:id="rId5"/>
    <p:sldId id="919" r:id="rId6"/>
    <p:sldId id="927" r:id="rId7"/>
    <p:sldId id="920" r:id="rId8"/>
    <p:sldId id="923" r:id="rId9"/>
    <p:sldId id="926" r:id="rId10"/>
    <p:sldId id="922" r:id="rId11"/>
    <p:sldId id="925" r:id="rId12"/>
    <p:sldId id="924" r:id="rId13"/>
    <p:sldId id="941" r:id="rId14"/>
    <p:sldId id="945" r:id="rId15"/>
    <p:sldId id="921" r:id="rId16"/>
    <p:sldId id="944" r:id="rId17"/>
    <p:sldId id="910" r:id="rId18"/>
    <p:sldId id="911" r:id="rId19"/>
    <p:sldId id="943" r:id="rId20"/>
    <p:sldId id="933" r:id="rId21"/>
    <p:sldId id="929" r:id="rId22"/>
    <p:sldId id="930" r:id="rId23"/>
    <p:sldId id="931" r:id="rId24"/>
    <p:sldId id="93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BD3"/>
    <a:srgbClr val="4473C5"/>
    <a:srgbClr val="330099"/>
    <a:srgbClr val="C218C2"/>
    <a:srgbClr val="0091D1"/>
    <a:srgbClr val="1C95CD"/>
    <a:srgbClr val="FFAAAA"/>
    <a:srgbClr val="3C9D3C"/>
    <a:srgbClr val="FFBA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7" autoAdjust="0"/>
    <p:restoredTop sz="79645" autoAdjust="0"/>
  </p:normalViewPr>
  <p:slideViewPr>
    <p:cSldViewPr snapToGrid="0">
      <p:cViewPr varScale="1">
        <p:scale>
          <a:sx n="93" d="100"/>
          <a:sy n="93" d="100"/>
        </p:scale>
        <p:origin x="11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2C8CA-A521-4254-86A7-6548A9107C3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013-C680-4F1D-A725-B09F536C3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A2E3B"/>
                </a:solidFill>
                <a:effectLst/>
                <a:latin typeface="Helvetica Neue"/>
              </a:rPr>
              <a:t>COSERO hydrological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56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VOTE: Which uncertainty can be reduced with more data? </a:t>
            </a:r>
          </a:p>
          <a:p>
            <a:r>
              <a:rPr lang="en-US" dirty="0"/>
              <a:t>VOTE2: Which of the three generated satellite image is most likely?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16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“smart error bounds” because they are state-dependent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52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VOTE: Can you think of other methods?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67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now how can we evaluate it? Build intuition with simple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80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Know three state-of-the-art generative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14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F2F013-C680-4F1D-A725-B09F536C38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50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ML for Earth &amp; Env Sci (Chapter 10, FA2025)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62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16C7CF-C9AD-402D-B1D3-EA17ED29E245}"/>
              </a:ext>
            </a:extLst>
          </p:cNvPr>
          <p:cNvSpPr/>
          <p:nvPr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0C51A0F-DE65-4DD8-AF36-9706BB26E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12" name="Picture 11" descr="Icon&#10;&#10;Description automatically generated with low confidence">
            <a:extLst>
              <a:ext uri="{FF2B5EF4-FFF2-40B4-BE49-F238E27FC236}">
                <a16:creationId xmlns:a16="http://schemas.microsoft.com/office/drawing/2014/main" id="{9C72AAB3-16B0-469E-961C-93A20A58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F0208-B091-4A8E-B00F-31B1AEF44E7D}"/>
              </a:ext>
            </a:extLst>
          </p:cNvPr>
          <p:cNvSpPr txBox="1"/>
          <p:nvPr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ML for Earth &amp; Env Sci (Week 5, FA2025)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D8FF54A-18CE-4A3A-B2EA-52A0A2C3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-1944"/>
            <a:ext cx="2743200" cy="365125"/>
          </a:xfrm>
        </p:spPr>
        <p:txBody>
          <a:bodyPr/>
          <a:lstStyle/>
          <a:p>
            <a:pPr algn="ctr"/>
            <a:fld id="{A5686A01-FA10-4E06-92C7-92734750F4C6}" type="slidenum">
              <a:rPr lang="en-US" smtClean="0"/>
              <a:pPr algn="ctr"/>
              <a:t>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A628A-64D9-409C-9EE5-F72C664B46BC}"/>
              </a:ext>
            </a:extLst>
          </p:cNvPr>
          <p:cNvSpPr txBox="1"/>
          <p:nvPr/>
        </p:nvSpPr>
        <p:spPr>
          <a:xfrm>
            <a:off x="7868093" y="1027050"/>
            <a:ext cx="4323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How can we </a:t>
            </a:r>
            <a:br>
              <a:rPr lang="en-US" sz="3000" dirty="0"/>
            </a:br>
            <a:r>
              <a:rPr lang="en-US" sz="3000" dirty="0"/>
              <a:t>add &amp; evaluate </a:t>
            </a:r>
            <a:r>
              <a:rPr lang="en-US" sz="3000" b="1" dirty="0"/>
              <a:t>uncertainty</a:t>
            </a:r>
            <a:r>
              <a:rPr lang="en-US" sz="3000" dirty="0"/>
              <a:t> </a:t>
            </a:r>
            <a:br>
              <a:rPr lang="en-US" sz="3000" dirty="0"/>
            </a:br>
            <a:r>
              <a:rPr lang="en-US" sz="3000" dirty="0"/>
              <a:t>in our ML predictions?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B444F1-414A-4203-B7FC-2DEE7FB4C090}"/>
              </a:ext>
            </a:extLst>
          </p:cNvPr>
          <p:cNvSpPr txBox="1"/>
          <p:nvPr/>
        </p:nvSpPr>
        <p:spPr>
          <a:xfrm>
            <a:off x="5747676" y="6488668"/>
            <a:ext cx="644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u="sng" dirty="0"/>
              <a:t>Source</a:t>
            </a:r>
            <a:r>
              <a:rPr lang="en-US" i="1" dirty="0"/>
              <a:t>: Leinonen et al. (2020)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DCF08-9C83-CE1C-2130-82FDBFF03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820" y="1044126"/>
            <a:ext cx="7884913" cy="497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0509FF-D7A9-C4FD-FA30-AE910BBF6AB2}"/>
              </a:ext>
            </a:extLst>
          </p:cNvPr>
          <p:cNvSpPr txBox="1"/>
          <p:nvPr/>
        </p:nvSpPr>
        <p:spPr>
          <a:xfrm>
            <a:off x="7866762" y="3891959"/>
            <a:ext cx="4323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Generated rain rates from the </a:t>
            </a:r>
            <a:r>
              <a:rPr lang="en-US" i="1" dirty="0" err="1"/>
              <a:t>downsampled</a:t>
            </a:r>
            <a:r>
              <a:rPr lang="en-US" i="1" dirty="0"/>
              <a:t> version of the real satellite image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273B7F-1472-4116-9D8A-87406E3D2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820" y="6032396"/>
            <a:ext cx="7884913" cy="82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0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E10A-3459-4F37-B2D1-3F864BD5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1359"/>
            <a:ext cx="12192000" cy="1765004"/>
          </a:xfrm>
        </p:spPr>
        <p:txBody>
          <a:bodyPr>
            <a:normAutofit/>
          </a:bodyPr>
          <a:lstStyle/>
          <a:p>
            <a:r>
              <a:rPr lang="en-US" dirty="0"/>
              <a:t>Min 80-105: Introduction to Generative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D8F-8562-4A80-A9B3-5D34DC99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938649D-351C-4F26-B22E-257FBE0817E2}"/>
              </a:ext>
            </a:extLst>
          </p:cNvPr>
          <p:cNvSpPr txBox="1">
            <a:spLocks/>
          </p:cNvSpPr>
          <p:nvPr/>
        </p:nvSpPr>
        <p:spPr>
          <a:xfrm>
            <a:off x="0" y="3462597"/>
            <a:ext cx="12192001" cy="279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/>
              <a:t>Learning Objectives</a:t>
            </a:r>
            <a:r>
              <a:rPr lang="en-US" dirty="0"/>
              <a:t> (</a:t>
            </a:r>
            <a:r>
              <a:rPr lang="en-US" dirty="0" err="1"/>
              <a:t>Géron</a:t>
            </a:r>
            <a:r>
              <a:rPr lang="en-US" dirty="0"/>
              <a:t> Ch17, Haynes et al.):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Define generative modeling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Know different ways of adding uncertainty to ML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Understand how to evaluate such uncertainty estimates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Know three state-of-the-art generative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Apprehend applications of latent data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7138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F34B-58FB-975A-28BA-425FA822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When given an input,</a:t>
            </a:r>
            <a:r>
              <a:rPr lang="en-US" sz="3600" b="1" dirty="0"/>
              <a:t> generative</a:t>
            </a:r>
            <a:r>
              <a:rPr lang="en-US" sz="3600" dirty="0"/>
              <a:t> models predict </a:t>
            </a:r>
            <a:br>
              <a:rPr lang="en-US" sz="3600" dirty="0"/>
            </a:br>
            <a:r>
              <a:rPr lang="en-US" sz="3600" b="1" dirty="0"/>
              <a:t>distributions</a:t>
            </a:r>
            <a:r>
              <a:rPr lang="en-US" sz="3600" dirty="0"/>
              <a:t> of outputs rather than a single output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28B9F-556C-E961-FFB5-05AC5E43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99975-8D7B-8483-1C08-E1F716119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2373511"/>
            <a:ext cx="12192000" cy="33156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C14EC3-C494-DC47-938B-20CB3951F963}"/>
              </a:ext>
            </a:extLst>
          </p:cNvPr>
          <p:cNvCxnSpPr/>
          <p:nvPr/>
        </p:nvCxnSpPr>
        <p:spPr>
          <a:xfrm>
            <a:off x="0" y="330140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1AEF19-9792-8BE3-4DAF-B62719032336}"/>
              </a:ext>
            </a:extLst>
          </p:cNvPr>
          <p:cNvCxnSpPr>
            <a:cxnSpLocks/>
          </p:cNvCxnSpPr>
          <p:nvPr/>
        </p:nvCxnSpPr>
        <p:spPr>
          <a:xfrm>
            <a:off x="6553201" y="2705078"/>
            <a:ext cx="0" cy="4152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22A611-DEFE-A3EA-E5BF-C8F2124FF499}"/>
              </a:ext>
            </a:extLst>
          </p:cNvPr>
          <p:cNvSpPr txBox="1"/>
          <p:nvPr/>
        </p:nvSpPr>
        <p:spPr>
          <a:xfrm>
            <a:off x="-1" y="2715505"/>
            <a:ext cx="6539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Uncertainty Quantification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5A0C2-2E86-307D-99C9-14FB1FAB2DA0}"/>
              </a:ext>
            </a:extLst>
          </p:cNvPr>
          <p:cNvSpPr txBox="1"/>
          <p:nvPr/>
        </p:nvSpPr>
        <p:spPr>
          <a:xfrm>
            <a:off x="6546291" y="2715505"/>
            <a:ext cx="56457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Stochastic Modeling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B7E701-5BAD-3615-CA97-6BFA5974F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112" y="3301408"/>
            <a:ext cx="5631886" cy="35565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F649899-456A-2FB4-3B44-EBE8C80FD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01408"/>
            <a:ext cx="5484865" cy="355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7BC878-AFCE-170C-4706-8437CE10A698}"/>
              </a:ext>
            </a:extLst>
          </p:cNvPr>
          <p:cNvSpPr txBox="1"/>
          <p:nvPr/>
        </p:nvSpPr>
        <p:spPr>
          <a:xfrm>
            <a:off x="5484865" y="6200831"/>
            <a:ext cx="106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i="1" dirty="0" err="1"/>
              <a:t>Abdar</a:t>
            </a:r>
            <a:r>
              <a:rPr lang="en-US" i="1" dirty="0"/>
              <a:t> et al. (2021)</a:t>
            </a:r>
          </a:p>
        </p:txBody>
      </p:sp>
    </p:spTree>
    <p:extLst>
      <p:ext uri="{BB962C8B-B14F-4D97-AF65-F5344CB8AC3E}">
        <p14:creationId xmlns:p14="http://schemas.microsoft.com/office/powerpoint/2010/main" val="179740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8F0E-4C4A-8E6A-BB00-997C0CD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807433"/>
          </a:xfrm>
        </p:spPr>
        <p:txBody>
          <a:bodyPr/>
          <a:lstStyle/>
          <a:p>
            <a:r>
              <a:rPr lang="en-US" dirty="0"/>
              <a:t>In practice, there are many ways of adding UQ!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9844F2-D016-276C-68C3-A1C27935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216B98-0482-9EA0-388D-92AF687D7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04" r="15187"/>
          <a:stretch/>
        </p:blipFill>
        <p:spPr>
          <a:xfrm>
            <a:off x="5979033" y="1804075"/>
            <a:ext cx="6212965" cy="4684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C86AE1-F878-A4A5-CD6B-A08BBCFFE7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404"/>
          <a:stretch/>
        </p:blipFill>
        <p:spPr>
          <a:xfrm>
            <a:off x="-116966" y="1804075"/>
            <a:ext cx="6212965" cy="4684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63CDB9-76F6-6AE1-32D6-F98BA0237507}"/>
              </a:ext>
            </a:extLst>
          </p:cNvPr>
          <p:cNvSpPr txBox="1"/>
          <p:nvPr/>
        </p:nvSpPr>
        <p:spPr>
          <a:xfrm>
            <a:off x="5484865" y="6488668"/>
            <a:ext cx="670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Haynes et al. (2023)</a:t>
            </a:r>
          </a:p>
        </p:txBody>
      </p:sp>
    </p:spTree>
    <p:extLst>
      <p:ext uri="{BB962C8B-B14F-4D97-AF65-F5344CB8AC3E}">
        <p14:creationId xmlns:p14="http://schemas.microsoft.com/office/powerpoint/2010/main" val="244836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8F0E-4C4A-8E6A-BB00-997C0CD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807433"/>
          </a:xfrm>
        </p:spPr>
        <p:txBody>
          <a:bodyPr/>
          <a:lstStyle/>
          <a:p>
            <a:r>
              <a:rPr lang="en-US" dirty="0"/>
              <a:t>In practice, there are many ways of adding UQ!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9844F2-D016-276C-68C3-A1C27935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3CDB9-76F6-6AE1-32D6-F98BA0237507}"/>
              </a:ext>
            </a:extLst>
          </p:cNvPr>
          <p:cNvSpPr txBox="1"/>
          <p:nvPr/>
        </p:nvSpPr>
        <p:spPr>
          <a:xfrm>
            <a:off x="5484865" y="6210876"/>
            <a:ext cx="6707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Haynes et al. (2023).</a:t>
            </a:r>
            <a:br>
              <a:rPr lang="en-US" i="1" dirty="0"/>
            </a:br>
            <a:r>
              <a:rPr lang="en-US" i="1" dirty="0" err="1"/>
              <a:t>Kujawska</a:t>
            </a:r>
            <a:r>
              <a:rPr lang="en-US" i="1" dirty="0"/>
              <a:t> et al. (2021)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05024-9235-B1E2-3287-B19058388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1850065"/>
            <a:ext cx="5582095" cy="3437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D3F596-F8EB-8518-80B7-0E9259A88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722" y="1850065"/>
            <a:ext cx="6265276" cy="3437949"/>
          </a:xfrm>
          <a:prstGeom prst="rect">
            <a:avLst/>
          </a:prstGeom>
        </p:spPr>
      </p:pic>
      <p:pic>
        <p:nvPicPr>
          <p:cNvPr id="2052" name="Picture 4" descr="How I Won at Italian Fantasy Football ⚽ Using Machine Learning | by  Giuseppe Musicco | Towards AI">
            <a:extLst>
              <a:ext uri="{FF2B5EF4-FFF2-40B4-BE49-F238E27FC236}">
                <a16:creationId xmlns:a16="http://schemas.microsoft.com/office/drawing/2014/main" id="{733F6986-ABEC-0C78-40A6-8F11639BE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7" t="13529" r="12791"/>
          <a:stretch/>
        </p:blipFill>
        <p:spPr bwMode="auto">
          <a:xfrm>
            <a:off x="1168390" y="5288014"/>
            <a:ext cx="3245305" cy="159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Quantiles are key to understand probability distributions | Towards Data  Science">
            <a:extLst>
              <a:ext uri="{FF2B5EF4-FFF2-40B4-BE49-F238E27FC236}">
                <a16:creationId xmlns:a16="http://schemas.microsoft.com/office/drawing/2014/main" id="{2D7B0942-1BC4-5EFE-AA75-3E5A07D79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3" b="10853"/>
          <a:stretch/>
        </p:blipFill>
        <p:spPr bwMode="auto">
          <a:xfrm>
            <a:off x="5926722" y="5288014"/>
            <a:ext cx="2777440" cy="156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31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049A8-8640-ECBF-43F7-F3147B9E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222D2-2C54-6062-8D29-F5E7F0C68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7600"/>
            <a:ext cx="9054367" cy="4470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EF77EFD-346E-F846-1C77-729472D3C1BB}"/>
              </a:ext>
            </a:extLst>
          </p:cNvPr>
          <p:cNvSpPr txBox="1">
            <a:spLocks/>
          </p:cNvSpPr>
          <p:nvPr/>
        </p:nvSpPr>
        <p:spPr>
          <a:xfrm>
            <a:off x="-2" y="1042632"/>
            <a:ext cx="12192000" cy="134496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MC-Dropout randomly drops neural connections</a:t>
            </a:r>
            <a:br>
              <a:rPr lang="en-US" dirty="0"/>
            </a:br>
            <a:r>
              <a:rPr lang="en-US" dirty="0"/>
              <a:t>(Training) Regularization &amp; (Test time) UQ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68939-3DEA-E39D-D621-A41760499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367" y="2387600"/>
            <a:ext cx="3137633" cy="840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05A2DA-01F6-34CB-CEDB-93CBEF65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4367" y="3227952"/>
            <a:ext cx="3137633" cy="913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F2E61E-BBC8-741B-257B-470F57884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4364" y="4126095"/>
            <a:ext cx="3137634" cy="16150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58ECE4-E511-0EC1-0C28-EA23ADA5E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4362" y="5741104"/>
            <a:ext cx="3137636" cy="7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9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C912-DE6F-87F5-6482-DF23BE93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5686" y="1042632"/>
            <a:ext cx="6196312" cy="1325563"/>
          </a:xfrm>
        </p:spPr>
        <p:txBody>
          <a:bodyPr>
            <a:noAutofit/>
          </a:bodyPr>
          <a:lstStyle/>
          <a:p>
            <a:r>
              <a:rPr lang="en-US" sz="3200" dirty="0"/>
              <a:t>Spread-Skill Plot and CRPS*</a:t>
            </a:r>
            <a:br>
              <a:rPr lang="en-US" sz="3200" dirty="0"/>
            </a:br>
            <a:r>
              <a:rPr lang="en-US" sz="3200" dirty="0"/>
              <a:t>evaluate the generated distribution</a:t>
            </a:r>
            <a:br>
              <a:rPr lang="en-US" sz="3200" dirty="0"/>
            </a:br>
            <a:r>
              <a:rPr lang="en-US" sz="3200" dirty="0"/>
              <a:t>*(Continuous Ranked Prob. Score)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89BF27-E74F-C131-4864-146897D2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394E0-4CE1-D202-49B1-6CD6F2A36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30" y="2368194"/>
            <a:ext cx="5457468" cy="4489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77489-D19E-24A9-444A-6296D3BB6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014932"/>
            <a:ext cx="5995685" cy="584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07F5-85F8-4FB5-C3A8-74E567A1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4869"/>
            <a:ext cx="12192000" cy="1339392"/>
          </a:xfrm>
        </p:spPr>
        <p:txBody>
          <a:bodyPr>
            <a:normAutofit fontScale="90000"/>
          </a:bodyPr>
          <a:lstStyle/>
          <a:p>
            <a:r>
              <a:rPr lang="en-US" dirty="0"/>
              <a:t>1) Generative Adversarial Nets pit a generator (fed noise) against a discriminator (fed the fake or real images)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8D331-0777-4769-364E-50CB2586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4DBF6-1D09-18FB-B8F8-5295E1DF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4261"/>
            <a:ext cx="8279989" cy="450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E20074-90A8-1FEC-E504-94D5C9FA423B}"/>
              </a:ext>
            </a:extLst>
          </p:cNvPr>
          <p:cNvSpPr txBox="1"/>
          <p:nvPr/>
        </p:nvSpPr>
        <p:spPr>
          <a:xfrm>
            <a:off x="8279989" y="6211669"/>
            <a:ext cx="391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 err="1"/>
              <a:t>Géron</a:t>
            </a:r>
            <a:r>
              <a:rPr lang="en-US" i="1" dirty="0"/>
              <a:t> textbook, Wikipedia (GAN), </a:t>
            </a:r>
            <a:br>
              <a:rPr lang="en-US" i="1" dirty="0"/>
            </a:br>
            <a:r>
              <a:rPr lang="en-US" i="1" dirty="0" err="1"/>
              <a:t>Bodla</a:t>
            </a:r>
            <a:r>
              <a:rPr lang="en-US" i="1" dirty="0"/>
              <a:t> et al. (2018)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E9AEE9D-D2B4-CAC6-337C-3F5D9E110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989" y="2354261"/>
            <a:ext cx="2079171" cy="207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AB2A230-24D8-37C0-54CE-55CFEF65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160" y="2512580"/>
            <a:ext cx="1832840" cy="183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516CD4C-ED9A-245F-ABC5-6C18490468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94"/>
          <a:stretch/>
        </p:blipFill>
        <p:spPr bwMode="auto">
          <a:xfrm>
            <a:off x="8279988" y="4433432"/>
            <a:ext cx="3912011" cy="177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1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C71D-15C1-EE28-2B9C-DDBD1A0A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106208"/>
          </a:xfrm>
        </p:spPr>
        <p:txBody>
          <a:bodyPr>
            <a:noAutofit/>
          </a:bodyPr>
          <a:lstStyle/>
          <a:p>
            <a:r>
              <a:rPr lang="en-US" sz="3200" dirty="0"/>
              <a:t>2) Diffusion Probabilistic Models smoothly perturb data by adding noise, then reverse this process to generate new data from noise.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CC81E-7FC0-A621-651E-B5E5F462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9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861DD32-012F-D592-064E-000279588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2148840"/>
            <a:ext cx="12192000" cy="314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D5A786D-D714-12D0-7F30-81478BBA9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5295266"/>
            <a:ext cx="4693586" cy="160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>
            <a:extLst>
              <a:ext uri="{FF2B5EF4-FFF2-40B4-BE49-F238E27FC236}">
                <a16:creationId xmlns:a16="http://schemas.microsoft.com/office/drawing/2014/main" id="{FDD6AD9D-476C-62B5-C8BE-2EB483E38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84" y="5295265"/>
            <a:ext cx="4475522" cy="160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5AF9D-049D-4042-C649-EEF292061538}"/>
              </a:ext>
            </a:extLst>
          </p:cNvPr>
          <p:cNvSpPr txBox="1"/>
          <p:nvPr/>
        </p:nvSpPr>
        <p:spPr>
          <a:xfrm>
            <a:off x="5484865" y="6488668"/>
            <a:ext cx="670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Yang et al. (2022)</a:t>
            </a:r>
          </a:p>
        </p:txBody>
      </p:sp>
    </p:spTree>
    <p:extLst>
      <p:ext uri="{BB962C8B-B14F-4D97-AF65-F5344CB8AC3E}">
        <p14:creationId xmlns:p14="http://schemas.microsoft.com/office/powerpoint/2010/main" val="355681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C912-DE6F-87F5-6482-DF23BE93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882" y="1042632"/>
            <a:ext cx="3513115" cy="3264710"/>
          </a:xfrm>
        </p:spPr>
        <p:txBody>
          <a:bodyPr>
            <a:noAutofit/>
          </a:bodyPr>
          <a:lstStyle/>
          <a:p>
            <a:r>
              <a:rPr lang="en-US" sz="3600" dirty="0"/>
              <a:t>3) Variational Autoencoders probabilistically encode/decode data from </a:t>
            </a:r>
            <a:r>
              <a:rPr lang="en-US" sz="3600" i="1" dirty="0"/>
              <a:t>latent representations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89BF27-E74F-C131-4864-146897D2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8E863-ACEE-5B3F-25DF-5C85F2698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042632"/>
            <a:ext cx="8678885" cy="5815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224FD6-9C64-8D9F-F4F1-C71889A1B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463" y="4317357"/>
            <a:ext cx="4092536" cy="25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0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CC07F-8642-12FF-564F-4DD089C1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C92D8-18D9-09DA-94EA-8183401FE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721" y="2114742"/>
            <a:ext cx="5521728" cy="4373926"/>
          </a:xfrm>
          <a:prstGeom prst="rect">
            <a:avLst/>
          </a:prstGeom>
        </p:spPr>
      </p:pic>
      <p:pic>
        <p:nvPicPr>
          <p:cNvPr id="6146" name="Picture 2" descr="Details are in the caption following the image">
            <a:extLst>
              <a:ext uri="{FF2B5EF4-FFF2-40B4-BE49-F238E27FC236}">
                <a16:creationId xmlns:a16="http://schemas.microsoft.com/office/drawing/2014/main" id="{0D3F8080-218D-154E-FF2D-FA4CEB3C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440" y="1038463"/>
            <a:ext cx="6766560" cy="58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8DF685-E3EA-5C36-73D7-0747F2017406}"/>
              </a:ext>
            </a:extLst>
          </p:cNvPr>
          <p:cNvSpPr txBox="1"/>
          <p:nvPr/>
        </p:nvSpPr>
        <p:spPr>
          <a:xfrm>
            <a:off x="1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Géron</a:t>
            </a:r>
            <a:r>
              <a:rPr lang="en-US" i="1" dirty="0"/>
              <a:t> textbook, Behrens et al. (2022)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2953099-AD8D-F6C4-CE95-4E8C3C7D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2"/>
            <a:ext cx="5424009" cy="1072110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manifold or “Latent space”</a:t>
            </a:r>
            <a:endParaRPr lang="en-US" dirty="0">
              <a:solidFill>
                <a:srgbClr val="D9EB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60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7026-8303-FFBF-1375-5CD1D504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2"/>
            <a:ext cx="5424009" cy="2493048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manifolds can be used for e.g., </a:t>
            </a:r>
            <a:br>
              <a:rPr lang="en-US" dirty="0"/>
            </a:br>
            <a:r>
              <a:rPr lang="en-US" dirty="0">
                <a:solidFill>
                  <a:srgbClr val="4473C5"/>
                </a:solidFill>
              </a:rPr>
              <a:t>scientific analysis</a:t>
            </a:r>
            <a:r>
              <a:rPr lang="en-US" dirty="0"/>
              <a:t> and </a:t>
            </a:r>
            <a:r>
              <a:rPr lang="en-US" dirty="0">
                <a:solidFill>
                  <a:srgbClr val="D9EBD3"/>
                </a:solidFill>
              </a:rPr>
              <a:t>semi-supervised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CC07F-8642-12FF-564F-4DD089C1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01CF01-6A38-53BE-F005-29953674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" y="3535680"/>
            <a:ext cx="5424009" cy="3322320"/>
          </a:xfrm>
          <a:prstGeom prst="rect">
            <a:avLst/>
          </a:prstGeom>
          <a:ln w="57150">
            <a:solidFill>
              <a:srgbClr val="D9EBD3"/>
            </a:solidFill>
          </a:ln>
        </p:spPr>
      </p:pic>
      <p:pic>
        <p:nvPicPr>
          <p:cNvPr id="8" name="Picture 2" descr="Details are in the caption following the image">
            <a:extLst>
              <a:ext uri="{FF2B5EF4-FFF2-40B4-BE49-F238E27FC236}">
                <a16:creationId xmlns:a16="http://schemas.microsoft.com/office/drawing/2014/main" id="{D69225FC-F178-DF07-629E-3E0620D44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288" y="1042632"/>
            <a:ext cx="6761712" cy="5815368"/>
          </a:xfrm>
          <a:prstGeom prst="rect">
            <a:avLst/>
          </a:prstGeom>
          <a:noFill/>
          <a:ln w="57150">
            <a:solidFill>
              <a:srgbClr val="33009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20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1CF-F50A-FB96-940B-8139DE07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9740"/>
            <a:ext cx="12192000" cy="2852737"/>
          </a:xfrm>
        </p:spPr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D259-25E1-1DA5-2A69-05A4AF0F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918207-CA06-41F4-36E0-2E69E558B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681C-21F3-F0A0-64C8-2C1F21CD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23820"/>
          </a:xfrm>
        </p:spPr>
        <p:txBody>
          <a:bodyPr>
            <a:normAutofit fontScale="90000"/>
          </a:bodyPr>
          <a:lstStyle/>
          <a:p>
            <a:r>
              <a:rPr lang="en-US" dirty="0"/>
              <a:t>Notebooks: All “theory” + 1 “environmental application”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9E5C6-0C02-43D5-728D-C4EC8E8C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FD529-9C51-07BA-92DD-0C6E1FF9C80B}"/>
              </a:ext>
            </a:extLst>
          </p:cNvPr>
          <p:cNvCxnSpPr/>
          <p:nvPr/>
        </p:nvCxnSpPr>
        <p:spPr>
          <a:xfrm>
            <a:off x="-2" y="2713703"/>
            <a:ext cx="121920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EC95F-E964-8DFB-E9B5-732B0CD95B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5998" y="1966453"/>
            <a:ext cx="0" cy="54667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550D9F-0A32-B172-2839-2BBCA215F7AD}"/>
              </a:ext>
            </a:extLst>
          </p:cNvPr>
          <p:cNvSpPr txBox="1"/>
          <p:nvPr/>
        </p:nvSpPr>
        <p:spPr>
          <a:xfrm>
            <a:off x="0" y="2063079"/>
            <a:ext cx="60959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Theory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C3FC2-94D6-D04D-597C-A83F4314CB71}"/>
              </a:ext>
            </a:extLst>
          </p:cNvPr>
          <p:cNvSpPr txBox="1"/>
          <p:nvPr/>
        </p:nvSpPr>
        <p:spPr>
          <a:xfrm>
            <a:off x="6095998" y="2063079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Environmental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9EECD-7161-E938-3970-597B12054FAF}"/>
              </a:ext>
            </a:extLst>
          </p:cNvPr>
          <p:cNvSpPr txBox="1"/>
          <p:nvPr/>
        </p:nvSpPr>
        <p:spPr>
          <a:xfrm>
            <a:off x="-2" y="271370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6.2 (Computer vision)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7.3 (Composing music)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XAI: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9.2 (XAI on simple datasets)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Gen ML: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10.1 (UQ) + 10.2 (Gen NNs)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0F1E5-C94B-164A-A0B4-85AB62851665}"/>
              </a:ext>
            </a:extLst>
          </p:cNvPr>
          <p:cNvSpPr txBox="1"/>
          <p:nvPr/>
        </p:nvSpPr>
        <p:spPr>
          <a:xfrm>
            <a:off x="6095991" y="2731673"/>
            <a:ext cx="60959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Choose one of the following: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CNN: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6.3 (Land cover classification)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RNN: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7.4 (Hydrological modeling)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GNN: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8.3 (Neural weather pred.)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GenML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: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 10.3* (Climate downscaling)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Hybrid: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11.2 (Glacier modeling)</a:t>
            </a:r>
          </a:p>
        </p:txBody>
      </p:sp>
    </p:spTree>
    <p:extLst>
      <p:ext uri="{BB962C8B-B14F-4D97-AF65-F5344CB8AC3E}">
        <p14:creationId xmlns:p14="http://schemas.microsoft.com/office/powerpoint/2010/main" val="2333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54A5-12DF-5362-CC5C-C2258A53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Mid-term Presentations: Thursday, </a:t>
            </a:r>
            <a:r>
              <a:rPr lang="en-US" b="1" dirty="0"/>
              <a:t>Nov 13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GEO 2113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FDBB9-C135-880A-6131-E48B54C1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164C-A84E-7234-CBA9-8B2D19A804F4}"/>
              </a:ext>
            </a:extLst>
          </p:cNvPr>
          <p:cNvSpPr txBox="1"/>
          <p:nvPr/>
        </p:nvSpPr>
        <p:spPr>
          <a:xfrm>
            <a:off x="0" y="3538490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4min presentations + 6min Q&amp;A/feedback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Tip = 1 slide/minute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Scientific question: What’s our goal and why do we care?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Dataset: Characteristics, challenges, training/validation/test split, etc.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Methodology: Which ML algorithm(s) are you planning to use and why?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Results: What are your initial results &amp; what do you plan to do next?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CA518-1F95-6BA4-D78F-E477D1C9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15"/>
            <a:ext cx="12192000" cy="6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103-44B2-D22B-A87A-6D018D01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(For students taking this course for credits)</a:t>
            </a:r>
            <a:br>
              <a:rPr lang="en-US" dirty="0"/>
            </a:br>
            <a:r>
              <a:rPr lang="en-US" dirty="0"/>
              <a:t>Second oral evaluation: Dec 3</a:t>
            </a:r>
            <a:r>
              <a:rPr lang="en-US" baseline="30000" dirty="0"/>
              <a:t>rd</a:t>
            </a:r>
            <a:r>
              <a:rPr lang="en-US" dirty="0"/>
              <a:t> &amp; 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C2A36-30AA-E208-3BBA-5585F09A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34D19-CFCA-76BF-9590-2DFDE17F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2441902"/>
            <a:ext cx="12192000" cy="40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E816-71E6-4789-81A4-C7C5659E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042633"/>
            <a:ext cx="12192000" cy="983018"/>
          </a:xfrm>
        </p:spPr>
        <p:txBody>
          <a:bodyPr>
            <a:normAutofit/>
          </a:bodyPr>
          <a:lstStyle/>
          <a:p>
            <a:r>
              <a:rPr lang="en-US" dirty="0"/>
              <a:t>In-class Peer Review: Wednesday, Dec 10</a:t>
            </a:r>
            <a:r>
              <a:rPr lang="en-US" baseline="30000" dirty="0"/>
              <a:t>th</a:t>
            </a:r>
            <a:r>
              <a:rPr lang="en-US" dirty="0"/>
              <a:t>, 12-2PM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4BB1-F0A7-450A-9EFA-9C5C6FC0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EB457D-0278-4721-9A27-E528E0D68D50}"/>
              </a:ext>
            </a:extLst>
          </p:cNvPr>
          <p:cNvSpPr txBox="1">
            <a:spLocks/>
          </p:cNvSpPr>
          <p:nvPr/>
        </p:nvSpPr>
        <p:spPr>
          <a:xfrm>
            <a:off x="2" y="5874982"/>
            <a:ext cx="12191998" cy="983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Submit first draft of your project by December 9</a:t>
            </a:r>
            <a:r>
              <a:rPr kumimoji="0" lang="en-US" sz="44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th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4D35-4B90-B2E0-607D-2D56E1FB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8773"/>
            <a:ext cx="12192000" cy="33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2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BFE36-3B1F-4C2A-9016-337BE4D6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D2398-3FCD-467D-B01C-0199B1A278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05"/>
          <a:stretch/>
        </p:blipFill>
        <p:spPr>
          <a:xfrm>
            <a:off x="0" y="1031395"/>
            <a:ext cx="12192000" cy="3205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D337-BE61-414E-8F0A-94ADC860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93" y="4236721"/>
            <a:ext cx="471880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EFD0BE-0634-41AE-BCAA-B49A49DC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452" y="4236721"/>
            <a:ext cx="5826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6239-8907-4A57-A723-BEEF915D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Presentations on Dec 11 &amp; Dec 18 in GEO2138</a:t>
            </a:r>
            <a:br>
              <a:rPr lang="en-US" dirty="0"/>
            </a:br>
            <a:r>
              <a:rPr lang="en-US" dirty="0"/>
              <a:t>Registration slots on Moodle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4522C-45E9-48E6-AE64-6016EBE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69C6-F13F-402F-AF09-61C8A2FD87D5}"/>
              </a:ext>
            </a:extLst>
          </p:cNvPr>
          <p:cNvSpPr txBox="1"/>
          <p:nvPr/>
        </p:nvSpPr>
        <p:spPr>
          <a:xfrm>
            <a:off x="0" y="3534013"/>
            <a:ext cx="12192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5min presentations + 5min Q&amp;A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Tip = 1-2 slides for each of the following categories: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Scientific question: What’s our goal and why do we care?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Dataset: Characteristics, challenges, training/validation/test split, etc.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Methodology: Which ML algorithm(s) did you choose and why?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Results: What are your findings and how does it answer the sci. question?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7A1B3-EB3C-500C-B964-D5AB176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829"/>
            <a:ext cx="12192000" cy="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934A-9A22-61D2-C9DE-CC4A97E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81C8-7B03-CF1E-342A-D05093A17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BC86-7C61-2510-1A53-57988E95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8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4EF4C-2564-23F8-8955-1A4FD9DE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5E588-6883-1481-D698-658C5525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81" y="1034143"/>
            <a:ext cx="8349437" cy="58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2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B957F9-1AB9-3C73-20BB-9BD1AC12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9080A-61CC-67A0-2DE8-E8F0D23A7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92" y="1034143"/>
            <a:ext cx="7991015" cy="58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5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7866-3148-312C-DDAA-69A0E31A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F5B8AC-3E0C-DF61-9539-A29E8193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76360-708F-173C-C34A-B1C772113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35825"/>
            <a:ext cx="4833257" cy="5822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B2934F-AE7A-6D2D-60FB-1F5638487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525" y="1035825"/>
            <a:ext cx="4772475" cy="58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2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C5BD-2E02-15D5-7E69-40B0CBA99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EA3922-6D64-D125-D645-C17613CD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EA8A0-4AAA-4C69-A282-40903C5FC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257" y="1024229"/>
            <a:ext cx="7859486" cy="58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0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721</Words>
  <Application>Microsoft Office PowerPoint</Application>
  <PresentationFormat>Widescreen</PresentationFormat>
  <Paragraphs>105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CMU Sans Serif</vt:lpstr>
      <vt:lpstr>Helvetica Neue</vt:lpstr>
      <vt:lpstr>Office Theme</vt:lpstr>
      <vt:lpstr>PowerPoint Presentation</vt:lpstr>
      <vt:lpstr>Min 80-105: Introduction to Generative Modeling</vt:lpstr>
      <vt:lpstr>When given an input, generative models predict  distributions of outputs rather than a single output vector</vt:lpstr>
      <vt:lpstr>In practice, there are many ways of adding UQ!</vt:lpstr>
      <vt:lpstr>In practice, there are many ways of adding UQ!</vt:lpstr>
      <vt:lpstr>PowerPoint Presentation</vt:lpstr>
      <vt:lpstr>Spread-Skill Plot and CRPS* evaluate the generated distribution *(Continuous Ranked Prob. Score)</vt:lpstr>
      <vt:lpstr>1) Generative Adversarial Nets pit a generator (fed noise) against a discriminator (fed the fake or real images)</vt:lpstr>
      <vt:lpstr>2) Diffusion Probabilistic Models smoothly perturb data by adding noise, then reverse this process to generate new data from noise.</vt:lpstr>
      <vt:lpstr>3) Variational Autoencoders probabilistically encode/decode data from latent representations</vt:lpstr>
      <vt:lpstr>Latent manifold or “Latent space”</vt:lpstr>
      <vt:lpstr>Latent manifolds can be used for e.g.,  scientific analysis and semi-supervised learning</vt:lpstr>
      <vt:lpstr>Logistics</vt:lpstr>
      <vt:lpstr>Notebooks: All “theory” + 1 “environmental application”</vt:lpstr>
      <vt:lpstr>Mid-term Presentations: Thursday, Nov 13th in GEO 2113  </vt:lpstr>
      <vt:lpstr>(For students taking this course for credits) Second oral evaluation: Dec 3rd &amp; 4th </vt:lpstr>
      <vt:lpstr>In-class Peer Review: Wednesday, Dec 10th, 12-2PM</vt:lpstr>
      <vt:lpstr>PowerPoint Presentation</vt:lpstr>
      <vt:lpstr>Final Presentations on Dec 11 &amp; Dec 18 in GEO2138 Registration slots on Moodle</vt:lpstr>
      <vt:lpstr>Legacy Slides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Beucler</dc:creator>
  <cp:lastModifiedBy>Tom Beucler</cp:lastModifiedBy>
  <cp:revision>465</cp:revision>
  <dcterms:created xsi:type="dcterms:W3CDTF">2022-02-23T18:29:24Z</dcterms:created>
  <dcterms:modified xsi:type="dcterms:W3CDTF">2025-11-26T11:04:59Z</dcterms:modified>
</cp:coreProperties>
</file>